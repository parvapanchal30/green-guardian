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GreenGuardian is an operating system for biological assets (trees, plants, crop batches, fields, parks). Student names, IEN numbers and guide must be filled in by the team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assets tracked in spreadsheets and chats; history is lost; observations never become owned action. Objective: an operating system for biological assets. Biological asset = anything living and managed with a lifecycle and time-varying state. Users: Green Management and Agricultural Production share one model. Ladder: solid = delivered by the MVP; dashed = planned (prediction in V2, recommendation in V3). In the MVP 'what should happen next' is rule-based recommendations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peer-reviewed sources, each verified against its published record. Papers 1, 2, 4 show what intelligence models can do; paper 3 shows data-driven farm decision-making; paper 5 shows why urban tree survival needs per-tree records. The gap is the operating loop around the models. The gap statement is our reading, not a claim made by the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Solid = MVP, dashed = planned. MVP = asset registry, monitoring, operations, Botanical Issues, map, dashboards, rules-based Botanical Operations Agent. Evolution: MVP operational foundation -&gt; V2 prediction -&gt; V3 recommendation -&gt; V4 optimization. Future modules are visible in the UI as Coming soon; nothing fabricated. Out of scope for MVP: any ML or LLM model, PDF reports, notifications, SSO, offline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as a swimlane showing activities, who is responsible, and the data exchanged. 1 Worker registers asset. 2 Worker records observation. 3 Agent evaluates rules and writes a recommendation with the reason. 4 Manager accepts: a botanical issue and a task are created and assigned. 5 Worker acts and logs result. 6 Worker rechecks. 7 Manager resolves after verification. Below: the same loop for Agricultural Production and Green Management; dashed steps are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block diagram. Browser to FastAPI API to PostgreSQL/PostGIS, object storage and a worker for rules. Weather provider is part of the MVP; ML inference and LLM are planned (dashed). Right: the biological asset graph. Asset -&gt; observation (append-only) -&gt; issue -&gt; task, with the agent producing recommendations that a person accepts. State is never overwritten; history tables are append-only. Bottom: three product layers: asset, operations, intelligence. Because both modes use this one graph, the same platform supports trees and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The agent is a set of explainable rules over structured data: a pipeline from inputs to rules to de-duplication to a recommendation that a person accepts. Algorithms are simple and stated: gap = now - last observation; decline = oldest score - newest score inside a window; cluster = count of assets per (zone, symptom). Rules for irrigation, harvest window and canopy need extra data (weather, soil moisture, stage duration, canopy measurements) and are labelled as such. The harvest rule is a stage-duration rule, not a prediction. Issue workflows GG-001 and GG-002 show how observations become structured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chosen for typed end-to-end development, spatial support and a clean path to ML later. No ML framework is a dependency of the MVP. Open items to confirm: hosting target and weather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are split by lane. Names must be filled in by the team. The Gantt chart uses relative weeks because the Stage 3 and Stage 4 calendar dates are not in the template; the split at week 6 is an assumption to adjust. Order follows the build plan: scaffold, identity, assets, observations, issues and tasks, agent, map and dashboards, reports and polish,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concept: the Botanical Operations Agent rules engine runs on synthetic sample data and its 5 unit tests pass; the three outputs match the example recommendations in the product story. The UI is a wireframe of the planned home screen, clearly labelled as a mock. Dashed items show how planned modules appear as Coming soon. The application backend and frontend are not built yet; next steps are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the signed approval letter on company letterhead must be supplied by the team and the industry contact; it cannot be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rtlCol="0"/>
          <a:lstStyle>
            <a:lvl1pPr algn="l" indent="0" marL="0">
              <a:buNone/>
              <a:defRPr lang="en-US" sz="2800" b="1" dirty="0">
                <a:solidFill>
                  <a:srgbClr val="000000"/>
                </a:solidFill>
                <a:latin typeface="Bookman Old Style" pitchFamily="34" charset="0"/>
                <a:ea typeface="Bookman Old Style" pitchFamily="34" charset="-122"/>
                <a:cs typeface="Bookman Old Style" pitchFamily="34" charset="-120"/>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ew Horizon Institute of Technology and Management logo">    </p:cNvPr>
          <p:cNvPicPr>
            <a:picLocks noChangeAspect="1"/>
          </p:cNvPicPr>
          <p:nvPr/>
        </p:nvPicPr>
        <p:blipFill>
          <a:blip r:embed="rId1"/>
          <a:stretch>
            <a:fillRect/>
          </a:stretch>
        </p:blipFill>
        <p:spPr>
          <a:xfrm>
            <a:off x="612648" y="237744"/>
            <a:ext cx="2340864" cy="1655064"/>
          </a:xfrm>
          <a:prstGeom prst="rect">
            <a:avLst/>
          </a:prstGeom>
        </p:spPr>
      </p:pic>
      <p:sp>
        <p:nvSpPr>
          <p:cNvPr id="3" name="Text 0"/>
          <p:cNvSpPr txBox="1"/>
          <p:nvPr/>
        </p:nvSpPr>
        <p:spPr>
          <a:xfrm>
            <a:off x="3108960" y="566928"/>
            <a:ext cx="7498080" cy="822960"/>
          </a:xfrm>
          <a:prstGeom prst="rect">
            <a:avLst/>
          </a:prstGeom>
          <a:noFill/>
          <a:ln/>
        </p:spPr>
        <p:txBody>
          <a:bodyPr wrap="square" lIns="0" tIns="0" rIns="0" bIns="0" rtlCol="0" anchor="t"/>
          <a:lstStyle/>
          <a:p>
            <a:pPr algn="ctr" indent="0" marL="0">
              <a:buNone/>
            </a:pPr>
            <a:r>
              <a:rPr lang="en-US" sz="2400" b="1" i="1" dirty="0">
                <a:solidFill>
                  <a:srgbClr val="000000"/>
                </a:solidFill>
                <a:latin typeface="Bookman Old Style" pitchFamily="34" charset="0"/>
                <a:ea typeface="Bookman Old Style" pitchFamily="34" charset="-122"/>
                <a:cs typeface="Bookman Old Style" pitchFamily="34" charset="-120"/>
              </a:rPr>
              <a:t>New Horizon Institute of Technology and Management, Thane</a:t>
            </a:r>
            <a:endParaRPr lang="en-US" sz="2400" dirty="0"/>
          </a:p>
        </p:txBody>
      </p:sp>
      <p:sp>
        <p:nvSpPr>
          <p:cNvPr id="4" name="Text 1"/>
          <p:cNvSpPr txBox="1"/>
          <p:nvPr/>
        </p:nvSpPr>
        <p:spPr>
          <a:xfrm>
            <a:off x="2011680" y="1920240"/>
            <a:ext cx="9509760" cy="457200"/>
          </a:xfrm>
          <a:prstGeom prst="rect">
            <a:avLst/>
          </a:prstGeom>
          <a:noFill/>
          <a:ln/>
        </p:spPr>
        <p:txBody>
          <a:bodyPr wrap="square" lIns="0" tIns="0" rIns="0" bIns="0" rtlCol="0" anchor="ctr"/>
          <a:lstStyle/>
          <a:p>
            <a:pPr algn="ctr" indent="0" marL="0">
              <a:buNone/>
            </a:pPr>
            <a:r>
              <a:rPr lang="en-US" sz="2800" b="1" i="1" dirty="0">
                <a:solidFill>
                  <a:srgbClr val="000000"/>
                </a:solidFill>
                <a:latin typeface="Bookman Old Style" pitchFamily="34" charset="0"/>
                <a:ea typeface="Bookman Old Style" pitchFamily="34" charset="-122"/>
                <a:cs typeface="Bookman Old Style" pitchFamily="34" charset="-120"/>
              </a:rPr>
              <a:t>Department of AI&amp;DS  Engineering</a:t>
            </a:r>
            <a:endParaRPr lang="en-US" sz="2800" dirty="0"/>
          </a:p>
        </p:txBody>
      </p:sp>
      <p:sp>
        <p:nvSpPr>
          <p:cNvPr id="5" name="Text 2"/>
          <p:cNvSpPr txBox="1"/>
          <p:nvPr/>
        </p:nvSpPr>
        <p:spPr>
          <a:xfrm>
            <a:off x="1554480" y="2606040"/>
            <a:ext cx="10058400" cy="1097280"/>
          </a:xfrm>
          <a:prstGeom prst="rect">
            <a:avLst/>
          </a:prstGeom>
          <a:noFill/>
          <a:ln/>
        </p:spPr>
        <p:txBody>
          <a:bodyPr wrap="square" lIns="0" tIns="0" rIns="0" bIns="0" rtlCol="0" anchor="t"/>
          <a:lstStyle/>
          <a:p>
            <a:pPr algn="ctr" indent="0" marL="0">
              <a:buNone/>
            </a:pPr>
            <a:r>
              <a:rPr lang="en-US" sz="2700" b="1" i="1" dirty="0">
                <a:solidFill>
                  <a:srgbClr val="000000"/>
                </a:solidFill>
                <a:latin typeface="Bookman Old Style" pitchFamily="34" charset="0"/>
                <a:ea typeface="Bookman Old Style" pitchFamily="34" charset="-122"/>
                <a:cs typeface="Bookman Old Style" pitchFamily="34" charset="-120"/>
              </a:rPr>
              <a:t>GreenGuardian</a:t>
            </a:r>
            <a:endParaRPr lang="en-US" sz="2700" dirty="0"/>
          </a:p>
          <a:p>
            <a:pPr algn="ctr" indent="0" marL="0">
              <a:buNone/>
            </a:pPr>
            <a:r>
              <a:rPr lang="en-US" sz="2700" b="1" i="1" dirty="0">
                <a:solidFill>
                  <a:srgbClr val="000000"/>
                </a:solidFill>
                <a:latin typeface="Bookman Old Style" pitchFamily="34" charset="0"/>
                <a:ea typeface="Bookman Old Style" pitchFamily="34" charset="-122"/>
                <a:cs typeface="Bookman Old Style" pitchFamily="34" charset="-120"/>
              </a:rPr>
              <a:t>An Operating System for Managing Biological Assets</a:t>
            </a:r>
            <a:endParaRPr lang="en-US" sz="2700" dirty="0"/>
          </a:p>
        </p:txBody>
      </p:sp>
      <p:sp>
        <p:nvSpPr>
          <p:cNvPr id="6" name="Text 3"/>
          <p:cNvSpPr txBox="1"/>
          <p:nvPr/>
        </p:nvSpPr>
        <p:spPr>
          <a:xfrm>
            <a:off x="5394960" y="3749040"/>
            <a:ext cx="2194560" cy="292608"/>
          </a:xfrm>
          <a:prstGeom prst="rect">
            <a:avLst/>
          </a:prstGeom>
          <a:noFill/>
          <a:ln/>
        </p:spPr>
        <p:txBody>
          <a:bodyPr wrap="square" lIns="0" tIns="0" rIns="0" bIns="0" rtlCol="0" anchor="ctr"/>
          <a:lstStyle/>
          <a:p>
            <a:pPr algn="ctr" indent="0" marL="0">
              <a:buNone/>
            </a:pPr>
            <a:r>
              <a:rPr lang="en-US" sz="2000" b="1" i="1" dirty="0">
                <a:solidFill>
                  <a:srgbClr val="000000"/>
                </a:solidFill>
                <a:latin typeface="Bookman Old Style" pitchFamily="34" charset="0"/>
                <a:ea typeface="Bookman Old Style" pitchFamily="34" charset="-122"/>
                <a:cs typeface="Bookman Old Style" pitchFamily="34" charset="-120"/>
              </a:rPr>
              <a:t>By</a:t>
            </a:r>
            <a:endParaRPr lang="en-US" sz="2000" dirty="0"/>
          </a:p>
        </p:txBody>
      </p:sp>
      <p:sp>
        <p:nvSpPr>
          <p:cNvPr id="7" name="Text 4"/>
          <p:cNvSpPr txBox="1"/>
          <p:nvPr/>
        </p:nvSpPr>
        <p:spPr>
          <a:xfrm>
            <a:off x="3108960" y="4187952"/>
            <a:ext cx="7498080" cy="329184"/>
          </a:xfrm>
          <a:prstGeom prst="rect">
            <a:avLst/>
          </a:prstGeom>
          <a:noFill/>
          <a:ln/>
        </p:spPr>
        <p:txBody>
          <a:bodyPr wrap="square" lIns="0" tIns="0" rIns="0" bIns="0" rtlCol="0" anchor="ctr"/>
          <a:lstStyle/>
          <a:p>
            <a:pPr algn="l" indent="0" marL="0">
              <a:buNone/>
            </a:pPr>
            <a:r>
              <a:rPr lang="en-US" sz="2000" b="1" i="1" dirty="0">
                <a:solidFill>
                  <a:srgbClr val="000000"/>
                </a:solidFill>
                <a:latin typeface="Bookman Old Style" pitchFamily="34" charset="0"/>
                <a:ea typeface="Bookman Old Style" pitchFamily="34" charset="-122"/>
                <a:cs typeface="Bookman Old Style" pitchFamily="34" charset="-120"/>
              </a:rPr>
              <a:t>Student Name- ______________   IEN- ________</a:t>
            </a:r>
            <a:endParaRPr lang="en-US" sz="2000" dirty="0"/>
          </a:p>
        </p:txBody>
      </p:sp>
      <p:sp>
        <p:nvSpPr>
          <p:cNvPr id="8" name="Text 5"/>
          <p:cNvSpPr txBox="1"/>
          <p:nvPr/>
        </p:nvSpPr>
        <p:spPr>
          <a:xfrm>
            <a:off x="3108960" y="4553712"/>
            <a:ext cx="7498080" cy="329184"/>
          </a:xfrm>
          <a:prstGeom prst="rect">
            <a:avLst/>
          </a:prstGeom>
          <a:noFill/>
          <a:ln/>
        </p:spPr>
        <p:txBody>
          <a:bodyPr wrap="square" lIns="0" tIns="0" rIns="0" bIns="0" rtlCol="0" anchor="ctr"/>
          <a:lstStyle/>
          <a:p>
            <a:pPr algn="l" indent="0" marL="0">
              <a:buNone/>
            </a:pPr>
            <a:r>
              <a:rPr lang="en-US" sz="2000" b="1" i="1" dirty="0">
                <a:solidFill>
                  <a:srgbClr val="000000"/>
                </a:solidFill>
                <a:latin typeface="Bookman Old Style" pitchFamily="34" charset="0"/>
                <a:ea typeface="Bookman Old Style" pitchFamily="34" charset="-122"/>
                <a:cs typeface="Bookman Old Style" pitchFamily="34" charset="-120"/>
              </a:rPr>
              <a:t>Student Name- ______________   IEN- ________</a:t>
            </a:r>
            <a:endParaRPr lang="en-US" sz="2000" dirty="0"/>
          </a:p>
        </p:txBody>
      </p:sp>
      <p:sp>
        <p:nvSpPr>
          <p:cNvPr id="9" name="Text 6"/>
          <p:cNvSpPr txBox="1"/>
          <p:nvPr/>
        </p:nvSpPr>
        <p:spPr>
          <a:xfrm>
            <a:off x="3108960" y="4919472"/>
            <a:ext cx="7498080" cy="329184"/>
          </a:xfrm>
          <a:prstGeom prst="rect">
            <a:avLst/>
          </a:prstGeom>
          <a:noFill/>
          <a:ln/>
        </p:spPr>
        <p:txBody>
          <a:bodyPr wrap="square" lIns="0" tIns="0" rIns="0" bIns="0" rtlCol="0" anchor="ctr"/>
          <a:lstStyle/>
          <a:p>
            <a:pPr algn="l" indent="0" marL="0">
              <a:buNone/>
            </a:pPr>
            <a:r>
              <a:rPr lang="en-US" sz="2000" b="1" i="1" dirty="0">
                <a:solidFill>
                  <a:srgbClr val="000000"/>
                </a:solidFill>
                <a:latin typeface="Bookman Old Style" pitchFamily="34" charset="0"/>
                <a:ea typeface="Bookman Old Style" pitchFamily="34" charset="-122"/>
                <a:cs typeface="Bookman Old Style" pitchFamily="34" charset="-120"/>
              </a:rPr>
              <a:t>Student Name- ______________   IEN- ________</a:t>
            </a:r>
            <a:endParaRPr lang="en-US" sz="2000" dirty="0"/>
          </a:p>
        </p:txBody>
      </p:sp>
      <p:sp>
        <p:nvSpPr>
          <p:cNvPr id="10" name="Text 7"/>
          <p:cNvSpPr txBox="1"/>
          <p:nvPr/>
        </p:nvSpPr>
        <p:spPr>
          <a:xfrm>
            <a:off x="3840480" y="5486400"/>
            <a:ext cx="5120640" cy="347472"/>
          </a:xfrm>
          <a:prstGeom prst="rect">
            <a:avLst/>
          </a:prstGeom>
          <a:noFill/>
          <a:ln/>
        </p:spPr>
        <p:txBody>
          <a:bodyPr wrap="square" lIns="0" tIns="0" rIns="0" bIns="0" rtlCol="0" anchor="ctr"/>
          <a:lstStyle/>
          <a:p>
            <a:pPr algn="ctr" indent="0" marL="0">
              <a:buNone/>
            </a:pPr>
            <a:r>
              <a:rPr lang="en-US" sz="2000" b="1" i="1" dirty="0">
                <a:solidFill>
                  <a:srgbClr val="000000"/>
                </a:solidFill>
                <a:latin typeface="Bookman Old Style" pitchFamily="34" charset="0"/>
                <a:ea typeface="Bookman Old Style" pitchFamily="34" charset="-122"/>
                <a:cs typeface="Bookman Old Style" pitchFamily="34" charset="-120"/>
              </a:rPr>
              <a:t>Guided by: ________________</a:t>
            </a:r>
            <a:endParaRPr lang="en-US" sz="2000" dirty="0"/>
          </a:p>
        </p:txBody>
      </p:sp>
      <p:sp>
        <p:nvSpPr>
          <p:cNvPr id="11" name="Text 8"/>
          <p:cNvSpPr txBox="1"/>
          <p:nvPr/>
        </p:nvSpPr>
        <p:spPr>
          <a:xfrm>
            <a:off x="1280160" y="6126480"/>
            <a:ext cx="9601200" cy="365760"/>
          </a:xfrm>
          <a:prstGeom prst="rect">
            <a:avLst/>
          </a:prstGeom>
          <a:noFill/>
          <a:ln/>
        </p:spPr>
        <p:txBody>
          <a:bodyPr wrap="square" lIns="0" tIns="0" rIns="0" bIns="0" rtlCol="0" anchor="ctr"/>
          <a:lstStyle/>
          <a:p>
            <a:pPr algn="ctr" indent="0" marL="0">
              <a:buNone/>
            </a:pPr>
            <a:r>
              <a:rPr lang="en-US" sz="1500" i="1" dirty="0">
                <a:solidFill>
                  <a:srgbClr val="595959"/>
                </a:solidFill>
                <a:latin typeface="Times New Roman" pitchFamily="34" charset="0"/>
                <a:ea typeface="Times New Roman" pitchFamily="34" charset="-122"/>
                <a:cs typeface="Times New Roman" pitchFamily="34" charset="-120"/>
              </a:rPr>
              <a:t>GreenGuardian turns botany from something people observe into something they can manage, predict and optimize.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Problem Statement and Objective</a:t>
            </a:r>
            <a:endParaRPr lang="en-US" sz="2800" dirty="0"/>
          </a:p>
        </p:txBody>
      </p:sp>
      <p:sp>
        <p:nvSpPr>
          <p:cNvPr id="3" name="Text 1"/>
          <p:cNvSpPr txBox="1"/>
          <p:nvPr/>
        </p:nvSpPr>
        <p:spPr>
          <a:xfrm>
            <a:off x="822960" y="1188720"/>
            <a:ext cx="4572000" cy="292608"/>
          </a:xfrm>
          <a:prstGeom prst="rect">
            <a:avLst/>
          </a:prstGeom>
          <a:noFill/>
          <a:ln/>
        </p:spPr>
        <p:txBody>
          <a:bodyPr wrap="square" lIns="0" tIns="0" rIns="0" bIns="0" rtlCol="0" anchor="t"/>
          <a:lstStyle/>
          <a:p>
            <a:pPr algn="l" indent="0" marL="0">
              <a:buNone/>
            </a:pPr>
            <a:r>
              <a:rPr lang="en-US" sz="1800" b="1" dirty="0">
                <a:solidFill>
                  <a:srgbClr val="000000"/>
                </a:solidFill>
                <a:latin typeface="Times New Roman" pitchFamily="34" charset="0"/>
                <a:ea typeface="Times New Roman" pitchFamily="34" charset="-122"/>
                <a:cs typeface="Times New Roman" pitchFamily="34" charset="-120"/>
              </a:rPr>
              <a:t>Problem Statement</a:t>
            </a:r>
            <a:endParaRPr lang="en-US" sz="1800" dirty="0"/>
          </a:p>
        </p:txBody>
      </p:sp>
      <p:sp>
        <p:nvSpPr>
          <p:cNvPr id="4" name="Text 2"/>
          <p:cNvSpPr txBox="1"/>
          <p:nvPr/>
        </p:nvSpPr>
        <p:spPr>
          <a:xfrm>
            <a:off x="822960" y="1536192"/>
            <a:ext cx="10607040" cy="685800"/>
          </a:xfrm>
          <a:prstGeom prst="rect">
            <a:avLst/>
          </a:prstGeom>
          <a:noFill/>
          <a:ln/>
        </p:spPr>
        <p:txBody>
          <a:bodyPr wrap="square" lIns="0" tIns="0" rIns="0" bIns="0" rtlCol="0" anchor="t"/>
          <a:lstStyle/>
          <a:p>
            <a:pPr algn="l" indent="0" marL="0">
              <a:buNone/>
            </a:pPr>
            <a:r>
              <a:rPr lang="en-US" sz="1500" dirty="0">
                <a:solidFill>
                  <a:srgbClr val="202124"/>
                </a:solidFill>
                <a:latin typeface="Times New Roman" pitchFamily="34" charset="0"/>
                <a:ea typeface="Times New Roman" pitchFamily="34" charset="-122"/>
                <a:cs typeface="Times New Roman" pitchFamily="34" charset="-120"/>
              </a:rPr>
              <a:t>Trees, crops and green spaces are tracked in spreadsheets, chat groups and paper registers: state is overwritten, problems are noticed late, and observations rarely become owned, verified action. People can see what exists, but cannot manage what happens next.</a:t>
            </a:r>
            <a:endParaRPr lang="en-US" sz="1500" dirty="0"/>
          </a:p>
        </p:txBody>
      </p:sp>
      <p:sp>
        <p:nvSpPr>
          <p:cNvPr id="5" name="Text 3"/>
          <p:cNvSpPr txBox="1"/>
          <p:nvPr/>
        </p:nvSpPr>
        <p:spPr>
          <a:xfrm>
            <a:off x="822960" y="2377440"/>
            <a:ext cx="4572000" cy="292608"/>
          </a:xfrm>
          <a:prstGeom prst="rect">
            <a:avLst/>
          </a:prstGeom>
          <a:noFill/>
          <a:ln/>
        </p:spPr>
        <p:txBody>
          <a:bodyPr wrap="square" lIns="0" tIns="0" rIns="0" bIns="0" rtlCol="0" anchor="t"/>
          <a:lstStyle/>
          <a:p>
            <a:pPr algn="l" indent="0" marL="0">
              <a:buNone/>
            </a:pPr>
            <a:r>
              <a:rPr lang="en-US" sz="1800" b="1" dirty="0">
                <a:solidFill>
                  <a:srgbClr val="000000"/>
                </a:solidFill>
                <a:latin typeface="Times New Roman" pitchFamily="34" charset="0"/>
                <a:ea typeface="Times New Roman" pitchFamily="34" charset="-122"/>
                <a:cs typeface="Times New Roman" pitchFamily="34" charset="-120"/>
              </a:rPr>
              <a:t>Objective</a:t>
            </a:r>
            <a:endParaRPr lang="en-US" sz="1800" dirty="0"/>
          </a:p>
        </p:txBody>
      </p:sp>
      <p:sp>
        <p:nvSpPr>
          <p:cNvPr id="6" name="Text 4"/>
          <p:cNvSpPr txBox="1"/>
          <p:nvPr/>
        </p:nvSpPr>
        <p:spPr>
          <a:xfrm>
            <a:off x="822960" y="2724912"/>
            <a:ext cx="10607040" cy="685800"/>
          </a:xfrm>
          <a:prstGeom prst="rect">
            <a:avLst/>
          </a:prstGeom>
          <a:noFill/>
          <a:ln/>
        </p:spPr>
        <p:txBody>
          <a:bodyPr wrap="square" lIns="0" tIns="0" rIns="0" bIns="0" rtlCol="0" anchor="t"/>
          <a:lstStyle/>
          <a:p>
            <a:pPr algn="l" indent="0" marL="0">
              <a:buNone/>
            </a:pPr>
            <a:r>
              <a:rPr lang="en-US" sz="1500" dirty="0">
                <a:solidFill>
                  <a:srgbClr val="202124"/>
                </a:solidFill>
                <a:latin typeface="Times New Roman" pitchFamily="34" charset="0"/>
                <a:ea typeface="Times New Roman" pitchFamily="34" charset="-122"/>
                <a:cs typeface="Times New Roman" pitchFamily="34" charset="-120"/>
              </a:rPr>
              <a:t>Build GreenGuardian, one platform that registers biological assets, keeps their state over time, turns observations into structured issues and tasks, and uses a rule-based Botanical Operations Agent to flag what needs attention, for both Green Management and Agricultural Production.</a:t>
            </a:r>
            <a:endParaRPr lang="en-US" sz="1500" dirty="0"/>
          </a:p>
        </p:txBody>
      </p:sp>
      <p:sp>
        <p:nvSpPr>
          <p:cNvPr id="7" name="card-asset"/>
          <p:cNvSpPr txBox="1"/>
          <p:nvPr/>
        </p:nvSpPr>
        <p:spPr>
          <a:xfrm>
            <a:off x="822960" y="3657600"/>
            <a:ext cx="3429000" cy="269748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8" name="Text 6"/>
          <p:cNvSpPr txBox="1"/>
          <p:nvPr/>
        </p:nvSpPr>
        <p:spPr>
          <a:xfrm>
            <a:off x="960120" y="3767328"/>
            <a:ext cx="3154680" cy="274320"/>
          </a:xfrm>
          <a:prstGeom prst="rect">
            <a:avLst/>
          </a:prstGeom>
          <a:noFill/>
          <a:ln/>
        </p:spPr>
        <p:txBody>
          <a:bodyPr wrap="square" lIns="0" tIns="0" rIns="0" bIns="0" rtlCol="0" anchor="t"/>
          <a:lstStyle/>
          <a:p>
            <a:pPr algn="l" indent="0" marL="0">
              <a:buNone/>
            </a:pPr>
            <a:r>
              <a:rPr lang="en-US" sz="1500" b="1" dirty="0">
                <a:solidFill>
                  <a:srgbClr val="000000"/>
                </a:solidFill>
                <a:latin typeface="Times New Roman" pitchFamily="34" charset="0"/>
                <a:ea typeface="Times New Roman" pitchFamily="34" charset="-122"/>
                <a:cs typeface="Times New Roman" pitchFamily="34" charset="-120"/>
              </a:rPr>
              <a:t>What is a biological asset?</a:t>
            </a:r>
            <a:endParaRPr lang="en-US" sz="1500" dirty="0"/>
          </a:p>
        </p:txBody>
      </p:sp>
      <p:sp>
        <p:nvSpPr>
          <p:cNvPr id="9" name="Text 7"/>
          <p:cNvSpPr txBox="1"/>
          <p:nvPr/>
        </p:nvSpPr>
        <p:spPr>
          <a:xfrm>
            <a:off x="960120" y="4114800"/>
            <a:ext cx="3154680" cy="2148840"/>
          </a:xfrm>
          <a:prstGeom prst="rect">
            <a:avLst/>
          </a:prstGeom>
          <a:noFill/>
          <a:ln/>
        </p:spPr>
        <p:txBody>
          <a:bodyPr wrap="square" lIns="0" tIns="0" rIns="0" bIns="0" rtlCol="0" anchor="t"/>
          <a:lstStyle/>
          <a:p>
            <a:pPr algn="l" indent="0" marL="0">
              <a:buNone/>
            </a:pPr>
            <a:r>
              <a:rPr lang="en-US" sz="1300" dirty="0">
                <a:solidFill>
                  <a:srgbClr val="202124"/>
                </a:solidFill>
                <a:latin typeface="Times New Roman" pitchFamily="34" charset="0"/>
                <a:ea typeface="Times New Roman" pitchFamily="34" charset="-122"/>
                <a:cs typeface="Times New Roman" pitchFamily="34" charset="-120"/>
              </a:rPr>
              <a:t>A living, managed thing with a lifecycle and a state that changes over time: a tree, a plant, a crop batch (for example 84,200 tomato plants), or the field or zone that holds them.</a:t>
            </a:r>
            <a:endParaRPr lang="en-US" sz="1300" dirty="0"/>
          </a:p>
          <a:p>
            <a:pPr algn="l" indent="0" marL="0">
              <a:buNone/>
            </a:pPr>
            <a:endParaRPr lang="en-US" sz="1300" dirty="0"/>
          </a:p>
          <a:p>
            <a:pPr algn="l" indent="0" marL="0">
              <a:buNone/>
            </a:pPr>
            <a:r>
              <a:rPr lang="en-US" sz="1300" dirty="0">
                <a:solidFill>
                  <a:srgbClr val="202124"/>
                </a:solidFill>
                <a:latin typeface="Times New Roman" pitchFamily="34" charset="0"/>
                <a:ea typeface="Times New Roman" pitchFamily="34" charset="-122"/>
                <a:cs typeface="Times New Roman" pitchFamily="34" charset="-120"/>
              </a:rPr>
              <a:t>Every asset carries a lifecycle stage, observations, issues and tasks.</a:t>
            </a:r>
            <a:endParaRPr lang="en-US" sz="1300" dirty="0"/>
          </a:p>
        </p:txBody>
      </p:sp>
      <p:sp>
        <p:nvSpPr>
          <p:cNvPr id="10" name="card-users"/>
          <p:cNvSpPr txBox="1"/>
          <p:nvPr/>
        </p:nvSpPr>
        <p:spPr>
          <a:xfrm>
            <a:off x="4411980" y="3657600"/>
            <a:ext cx="3429000" cy="269748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11" name="Text 9"/>
          <p:cNvSpPr txBox="1"/>
          <p:nvPr/>
        </p:nvSpPr>
        <p:spPr>
          <a:xfrm>
            <a:off x="4549140" y="3767328"/>
            <a:ext cx="3154680" cy="274320"/>
          </a:xfrm>
          <a:prstGeom prst="rect">
            <a:avLst/>
          </a:prstGeom>
          <a:noFill/>
          <a:ln/>
        </p:spPr>
        <p:txBody>
          <a:bodyPr wrap="square" lIns="0" tIns="0" rIns="0" bIns="0" rtlCol="0" anchor="t"/>
          <a:lstStyle/>
          <a:p>
            <a:pPr algn="l" indent="0" marL="0">
              <a:buNone/>
            </a:pPr>
            <a:r>
              <a:rPr lang="en-US" sz="1500" b="1" dirty="0">
                <a:solidFill>
                  <a:srgbClr val="000000"/>
                </a:solidFill>
                <a:latin typeface="Times New Roman" pitchFamily="34" charset="0"/>
                <a:ea typeface="Times New Roman" pitchFamily="34" charset="-122"/>
                <a:cs typeface="Times New Roman" pitchFamily="34" charset="-120"/>
              </a:rPr>
              <a:t>Who uses it, in two modes</a:t>
            </a:r>
            <a:endParaRPr lang="en-US" sz="1500" dirty="0"/>
          </a:p>
        </p:txBody>
      </p:sp>
      <p:sp>
        <p:nvSpPr>
          <p:cNvPr id="12" name="Text 10"/>
          <p:cNvSpPr txBox="1"/>
          <p:nvPr/>
        </p:nvSpPr>
        <p:spPr>
          <a:xfrm>
            <a:off x="4549140" y="4114800"/>
            <a:ext cx="3154680" cy="2148840"/>
          </a:xfrm>
          <a:prstGeom prst="rect">
            <a:avLst/>
          </a:prstGeom>
          <a:noFill/>
          <a:ln/>
        </p:spPr>
        <p:txBody>
          <a:bodyPr wrap="square" lIns="0" tIns="0" rIns="0" bIns="0" rtlCol="0" anchor="t"/>
          <a:lstStyle/>
          <a:p>
            <a:pPr algn="l" indent="0" marL="0">
              <a:buNone/>
            </a:pPr>
            <a:r>
              <a:rPr lang="en-US" sz="1300" b="1" dirty="0">
                <a:solidFill>
                  <a:srgbClr val="202124"/>
                </a:solidFill>
                <a:latin typeface="Times New Roman" pitchFamily="34" charset="0"/>
                <a:ea typeface="Times New Roman" pitchFamily="34" charset="-122"/>
                <a:cs typeface="Times New Roman" pitchFamily="34" charset="-120"/>
              </a:rPr>
              <a:t>Green Management</a:t>
            </a:r>
            <a:endParaRPr lang="en-US" sz="1300" dirty="0"/>
          </a:p>
          <a:p>
            <a:pPr algn="l" indent="0" marL="0">
              <a:buNone/>
            </a:pPr>
            <a:r>
              <a:rPr lang="en-US" sz="1300" dirty="0">
                <a:solidFill>
                  <a:srgbClr val="202124"/>
                </a:solidFill>
                <a:latin typeface="Times New Roman" pitchFamily="34" charset="0"/>
                <a:ea typeface="Times New Roman" pitchFamily="34" charset="-122"/>
                <a:cs typeface="Times New Roman" pitchFamily="34" charset="-120"/>
              </a:rPr>
              <a:t>Municipal forestry, parks, campuses, NGOs, afforestation, residential societies.</a:t>
            </a:r>
            <a:endParaRPr lang="en-US" sz="1300" dirty="0"/>
          </a:p>
          <a:p>
            <a:pPr algn="l" indent="0" marL="0">
              <a:buNone/>
            </a:pPr>
            <a:r>
              <a:rPr lang="en-US" sz="600" dirty="0">
                <a:solidFill>
                  <a:srgbClr val="202124"/>
                </a:solidFill>
                <a:latin typeface="Times New Roman" pitchFamily="34" charset="0"/>
                <a:ea typeface="Times New Roman" pitchFamily="34" charset="-122"/>
                <a:cs typeface="Times New Roman" pitchFamily="34" charset="-120"/>
              </a:rPr>
              <a:t> </a:t>
            </a:r>
            <a:endParaRPr lang="en-US" sz="1300" dirty="0"/>
          </a:p>
          <a:p>
            <a:pPr algn="l" indent="0" marL="0">
              <a:buNone/>
            </a:pPr>
            <a:r>
              <a:rPr lang="en-US" sz="1300" b="1" dirty="0">
                <a:solidFill>
                  <a:srgbClr val="202124"/>
                </a:solidFill>
                <a:latin typeface="Times New Roman" pitchFamily="34" charset="0"/>
                <a:ea typeface="Times New Roman" pitchFamily="34" charset="-122"/>
                <a:cs typeface="Times New Roman" pitchFamily="34" charset="-120"/>
              </a:rPr>
              <a:t>Agricultural Production</a:t>
            </a:r>
            <a:endParaRPr lang="en-US" sz="1300" dirty="0"/>
          </a:p>
          <a:p>
            <a:pPr algn="l" indent="0" marL="0">
              <a:buNone/>
            </a:pPr>
            <a:r>
              <a:rPr lang="en-US" sz="1300" dirty="0">
                <a:solidFill>
                  <a:srgbClr val="202124"/>
                </a:solidFill>
                <a:latin typeface="Times New Roman" pitchFamily="34" charset="0"/>
                <a:ea typeface="Times New Roman" pitchFamily="34" charset="-122"/>
                <a:cs typeface="Times New Roman" pitchFamily="34" charset="-120"/>
              </a:rPr>
              <a:t>Farms, orchards, plantations, greenhouses, crop producers.</a:t>
            </a:r>
            <a:endParaRPr lang="en-US" sz="1300" dirty="0"/>
          </a:p>
          <a:p>
            <a:pPr algn="l" indent="0" marL="0">
              <a:buNone/>
            </a:pPr>
            <a:r>
              <a:rPr lang="en-US" sz="600" dirty="0">
                <a:solidFill>
                  <a:srgbClr val="202124"/>
                </a:solidFill>
                <a:latin typeface="Times New Roman" pitchFamily="34" charset="0"/>
                <a:ea typeface="Times New Roman" pitchFamily="34" charset="-122"/>
                <a:cs typeface="Times New Roman" pitchFamily="34" charset="-120"/>
              </a:rPr>
              <a:t> </a:t>
            </a:r>
            <a:endParaRPr lang="en-US" sz="1300" dirty="0"/>
          </a:p>
          <a:p>
            <a:pPr algn="l" indent="0" marL="0">
              <a:buNone/>
            </a:pPr>
            <a:r>
              <a:rPr lang="en-US" sz="1300" i="1" dirty="0">
                <a:solidFill>
                  <a:srgbClr val="202124"/>
                </a:solidFill>
                <a:latin typeface="Times New Roman" pitchFamily="34" charset="0"/>
                <a:ea typeface="Times New Roman" pitchFamily="34" charset="-122"/>
                <a:cs typeface="Times New Roman" pitchFamily="34" charset="-120"/>
              </a:rPr>
              <a:t>One platform: the mode changes vocabulary, KPIs and lifecycle, not the data model.</a:t>
            </a:r>
            <a:endParaRPr lang="en-US" sz="1300" dirty="0"/>
          </a:p>
        </p:txBody>
      </p:sp>
      <p:sp>
        <p:nvSpPr>
          <p:cNvPr id="13" name="card-ladder"/>
          <p:cNvSpPr txBox="1"/>
          <p:nvPr/>
        </p:nvSpPr>
        <p:spPr>
          <a:xfrm>
            <a:off x="8001000" y="3657600"/>
            <a:ext cx="3429000" cy="269748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14" name="Text 12"/>
          <p:cNvSpPr txBox="1"/>
          <p:nvPr/>
        </p:nvSpPr>
        <p:spPr>
          <a:xfrm>
            <a:off x="8138160" y="3767328"/>
            <a:ext cx="3154680" cy="274320"/>
          </a:xfrm>
          <a:prstGeom prst="rect">
            <a:avLst/>
          </a:prstGeom>
          <a:noFill/>
          <a:ln/>
        </p:spPr>
        <p:txBody>
          <a:bodyPr wrap="square" lIns="0" tIns="0" rIns="0" bIns="0" rtlCol="0" anchor="t"/>
          <a:lstStyle/>
          <a:p>
            <a:pPr algn="l" indent="0" marL="0">
              <a:buNone/>
            </a:pPr>
            <a:r>
              <a:rPr lang="en-US" sz="1500" b="1" dirty="0">
                <a:solidFill>
                  <a:srgbClr val="000000"/>
                </a:solidFill>
                <a:latin typeface="Times New Roman" pitchFamily="34" charset="0"/>
                <a:ea typeface="Times New Roman" pitchFamily="34" charset="-122"/>
                <a:cs typeface="Times New Roman" pitchFamily="34" charset="-120"/>
              </a:rPr>
              <a:t>What it manages</a:t>
            </a:r>
            <a:endParaRPr lang="en-US" sz="1500" dirty="0"/>
          </a:p>
        </p:txBody>
      </p:sp>
      <p:sp>
        <p:nvSpPr>
          <p:cNvPr id="15" name="ladder-0"/>
          <p:cNvSpPr txBox="1"/>
          <p:nvPr/>
        </p:nvSpPr>
        <p:spPr>
          <a:xfrm>
            <a:off x="8138160" y="4114800"/>
            <a:ext cx="3154680" cy="29260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What exists?</a:t>
            </a:r>
            <a:endParaRPr lang="en-US" sz="1200" dirty="0"/>
          </a:p>
        </p:txBody>
      </p:sp>
      <p:sp>
        <p:nvSpPr>
          <p:cNvPr id="16" name="ladder-1"/>
          <p:cNvSpPr txBox="1"/>
          <p:nvPr/>
        </p:nvSpPr>
        <p:spPr>
          <a:xfrm>
            <a:off x="8138160" y="4480560"/>
            <a:ext cx="3154680" cy="29260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Current state</a:t>
            </a:r>
            <a:endParaRPr lang="en-US" sz="1200" dirty="0"/>
          </a:p>
        </p:txBody>
      </p:sp>
      <p:sp>
        <p:nvSpPr>
          <p:cNvPr id="17" name="ladder-2"/>
          <p:cNvSpPr txBox="1"/>
          <p:nvPr/>
        </p:nvSpPr>
        <p:spPr>
          <a:xfrm>
            <a:off x="8138160" y="4846320"/>
            <a:ext cx="3154680" cy="29260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What is going wrong?</a:t>
            </a:r>
            <a:endParaRPr lang="en-US" sz="1200" dirty="0"/>
          </a:p>
        </p:txBody>
      </p:sp>
      <p:sp>
        <p:nvSpPr>
          <p:cNvPr id="18" name="ladder-3"/>
          <p:cNvSpPr txBox="1"/>
          <p:nvPr/>
        </p:nvSpPr>
        <p:spPr>
          <a:xfrm>
            <a:off x="8138160" y="5212080"/>
            <a:ext cx="3154680" cy="29260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What will happen?  (V2)</a:t>
            </a:r>
            <a:endParaRPr lang="en-US" sz="1200" dirty="0"/>
          </a:p>
        </p:txBody>
      </p:sp>
      <p:sp>
        <p:nvSpPr>
          <p:cNvPr id="19" name="ladder-4"/>
          <p:cNvSpPr txBox="1"/>
          <p:nvPr/>
        </p:nvSpPr>
        <p:spPr>
          <a:xfrm>
            <a:off x="8138160" y="5577840"/>
            <a:ext cx="3154680" cy="29260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What should happen next?  (rules now, V3)</a:t>
            </a:r>
            <a:endParaRPr lang="en-US" sz="1200" dirty="0"/>
          </a:p>
        </p:txBody>
      </p:sp>
      <p:sp>
        <p:nvSpPr>
          <p:cNvPr id="20" name="ladder-5"/>
          <p:cNvSpPr txBox="1"/>
          <p:nvPr/>
        </p:nvSpPr>
        <p:spPr>
          <a:xfrm>
            <a:off x="8138160" y="5943600"/>
            <a:ext cx="3154680" cy="29260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200" dirty="0">
                <a:solidFill>
                  <a:srgbClr val="FFFFFF"/>
                </a:solidFill>
                <a:latin typeface="Times New Roman" pitchFamily="34" charset="0"/>
                <a:ea typeface="Times New Roman" pitchFamily="34" charset="-122"/>
                <a:cs typeface="Times New Roman" pitchFamily="34" charset="-120"/>
              </a:rPr>
              <a:t>Did the action work?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Literature Review</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188720"/>
          <a:ext cx="11018520" cy="914400"/>
        </p:xfrm>
        <a:graphic>
          <a:graphicData uri="http://schemas.openxmlformats.org/drawingml/2006/table">
            <a:tbl>
              <a:tblPr/>
              <a:tblGrid>
                <a:gridCol w="365760"/>
                <a:gridCol w="3246120"/>
                <a:gridCol w="2514600"/>
                <a:gridCol w="2423160"/>
                <a:gridCol w="2468880"/>
              </a:tblGrid>
              <a:tr h="310896">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a:t>
                      </a:r>
                      <a:endParaRPr lang="en-US" sz="1100" dirty="0">
                        <a:latin typeface="Times New Roman" charset="0"/>
                        <a:ea typeface="Times New Roman" charset="0"/>
                        <a:cs typeface="Times New Roman" charset="0"/>
                      </a:endParaRPr>
                    </a:p>
                  </a:txBody>
                  <a:tcPr marL="64008" marR="64008"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Paper</a:t>
                      </a:r>
                      <a:endParaRPr lang="en-US" sz="1100" dirty="0">
                        <a:latin typeface="Times New Roman" charset="0"/>
                        <a:ea typeface="Times New Roman" charset="0"/>
                        <a:cs typeface="Times New Roman" charset="0"/>
                      </a:endParaRPr>
                    </a:p>
                  </a:txBody>
                  <a:tcPr marL="64008" marR="64008"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Method / scope</a:t>
                      </a:r>
                      <a:endParaRPr lang="en-US" sz="1100" dirty="0">
                        <a:latin typeface="Times New Roman" charset="0"/>
                        <a:ea typeface="Times New Roman" charset="0"/>
                        <a:cs typeface="Times New Roman" charset="0"/>
                      </a:endParaRPr>
                    </a:p>
                  </a:txBody>
                  <a:tcPr marL="64008" marR="64008"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Reported finding</a:t>
                      </a:r>
                      <a:endParaRPr lang="en-US" sz="1100" dirty="0">
                        <a:latin typeface="Times New Roman" charset="0"/>
                        <a:ea typeface="Times New Roman" charset="0"/>
                        <a:cs typeface="Times New Roman" charset="0"/>
                      </a:endParaRPr>
                    </a:p>
                  </a:txBody>
                  <a:tcPr marL="64008" marR="64008"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Gap GreenGuardian addresses</a:t>
                      </a:r>
                      <a:endParaRPr lang="en-US" sz="1100" dirty="0">
                        <a:latin typeface="Times New Roman" charset="0"/>
                        <a:ea typeface="Times New Roman" charset="0"/>
                        <a:cs typeface="Times New Roman" charset="0"/>
                      </a:endParaRPr>
                    </a:p>
                  </a:txBody>
                  <a:tcPr marL="64008" marR="64008"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Mohanty, Hughes &amp; Salathé (2016). Using deep learning for image-based plant disease detection. Frontiers in Plant Science 7:1419.</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Deep CNN trained on 54,306 leaf images; 14 crop species, 26 diseases (controlled-condition images).</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99.35% accuracy on a held-out test set.</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A classifier, not a system: no asset history, issue or task. Our planned Disease Detection feeds Observation → Issue → Task.</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777240">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Kamilaris &amp; Prenafeta-Boldú (2018). Deep learning in agriculture: a survey. Computers and Electronics in Agriculture 147:70-90.</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Survey of 40 studies applying deep learning to agricultural problems.</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Deep learning gives high accuracy and outperforms common image-processing techniques.</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Focus is per-task model accuracy; the operating loop (issue → task → verify) is outside its scope.</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868680">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Wolfert, Ge, Verdouw &amp; Bogaardt (2017). Big data in smart farming: a review. Agricultural Systems 153:69-80.</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Literature review of big-data applications in smart farming (IoT, cloud, analytics).</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Big data provides predictive insight and real-time operational decisions across the food chain.</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Farm and supply-chain focus; we apply the same data-to-decision loop to farms and urban green assets on one model.</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914400">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van Klompenburg, Kassahun &amp; Catal (2020). Crop yield prediction using machine learning: a systematic literature review. Computers and Electronics in Agriculture 177:105709.</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Systematic review: 567 studies retrieved, 50 analysed.</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CNN, LSTM and DNN are the most-used deep-learning algorithms for yield prediction.</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Prediction needs history. The MVP records time-stamped data now, so yield prediction has real training data later.</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868680">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5</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Hilbert, Roman, Koeser, Vogt &amp; van Doorn (2019). Urban tree mortality: a literature review. Arboriculture &amp; Urban Forestry 45(5):167-200.</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Review of urban tree mortality rates and risk factors (56 studies).</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Tree survival is a performance metric; knowing mortality factors helps managers target resources.</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100" dirty="0">
                          <a:solidFill>
                            <a:srgbClr val="202124"/>
                          </a:solidFill>
                          <a:latin typeface="Times New Roman" pitchFamily="34" charset="0"/>
                          <a:ea typeface="Times New Roman" pitchFamily="34" charset="-122"/>
                          <a:cs typeface="Times New Roman" pitchFamily="34" charset="-120"/>
                        </a:rPr>
                        <a:t>Motivates our Green Management KPIs (survival, health) and per-tree records that make survival measurable.</a:t>
                      </a:r>
                      <a:endParaRPr lang="en-US" sz="1100" dirty="0">
                        <a:latin typeface="Times New Roman" charset="0"/>
                        <a:ea typeface="Times New Roman" charset="0"/>
                        <a:cs typeface="Times New Roman" charset="0"/>
                      </a:endParaRPr>
                    </a:p>
                  </a:txBody>
                  <a:tcPr marL="64008" marR="64008" marT="45720" marB="4572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4" name="Text 1"/>
          <p:cNvSpPr txBox="1"/>
          <p:nvPr/>
        </p:nvSpPr>
        <p:spPr>
          <a:xfrm>
            <a:off x="594360" y="5989320"/>
            <a:ext cx="11018520" cy="548640"/>
          </a:xfrm>
          <a:prstGeom prst="rect">
            <a:avLst/>
          </a:prstGeom>
          <a:noFill/>
          <a:ln/>
        </p:spPr>
        <p:txBody>
          <a:bodyPr wrap="square" lIns="0" tIns="0" rIns="0" bIns="0" rtlCol="0" anchor="t"/>
          <a:lstStyle/>
          <a:p>
            <a:pPr algn="l" indent="0" marL="0">
              <a:buNone/>
            </a:pPr>
            <a:r>
              <a:rPr lang="en-US" sz="1300" i="1" dirty="0">
                <a:solidFill>
                  <a:srgbClr val="000000"/>
                </a:solidFill>
                <a:latin typeface="Times New Roman" pitchFamily="34" charset="0"/>
                <a:ea typeface="Times New Roman" pitchFamily="34" charset="-122"/>
                <a:cs typeface="Times New Roman" pitchFamily="34" charset="-120"/>
              </a:rPr>
              <a:t>Observed gap (our reading of these five papers): strong models for single tasks (detect, predict) and strong evidence that survival and health matter, but little on one system that registers assets, tracks their state over time, turns findings into owned tasks and checks the outcome.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Scope</a:t>
            </a:r>
            <a:endParaRPr lang="en-US" sz="2800" dirty="0"/>
          </a:p>
        </p:txBody>
      </p:sp>
      <p:sp>
        <p:nvSpPr>
          <p:cNvPr id="3" name="Text 1"/>
          <p:cNvSpPr txBox="1"/>
          <p:nvPr/>
        </p:nvSpPr>
        <p:spPr>
          <a:xfrm>
            <a:off x="594360" y="1143000"/>
            <a:ext cx="5989320" cy="36576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MVP: the operational foundation, being built now</a:t>
            </a:r>
            <a:endParaRPr lang="en-US" sz="1400" dirty="0"/>
          </a:p>
        </p:txBody>
      </p:sp>
      <p:sp>
        <p:nvSpPr>
          <p:cNvPr id="4" name="Text 2"/>
          <p:cNvSpPr txBox="1"/>
          <p:nvPr/>
        </p:nvSpPr>
        <p:spPr>
          <a:xfrm>
            <a:off x="6812280" y="1143000"/>
            <a:ext cx="4800600" cy="36576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Planned: designed for, not in the MVP</a:t>
            </a:r>
            <a:endParaRPr lang="en-US" sz="1400" dirty="0"/>
          </a:p>
        </p:txBody>
      </p:sp>
      <p:sp>
        <p:nvSpPr>
          <p:cNvPr id="5" name="Text 3"/>
          <p:cNvSpPr txBox="1"/>
          <p:nvPr/>
        </p:nvSpPr>
        <p:spPr>
          <a:xfrm>
            <a:off x="594360" y="1600200"/>
            <a:ext cx="1600200" cy="530352"/>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Assets</a:t>
            </a:r>
            <a:endParaRPr lang="en-US" sz="1200" dirty="0"/>
          </a:p>
        </p:txBody>
      </p:sp>
      <p:sp>
        <p:nvSpPr>
          <p:cNvPr id="6" name="Text 4"/>
          <p:cNvSpPr txBox="1"/>
          <p:nvPr/>
        </p:nvSpPr>
        <p:spPr>
          <a:xfrm>
            <a:off x="2194560" y="1600200"/>
            <a:ext cx="4389120" cy="530352"/>
          </a:xfrm>
          <a:prstGeom prst="rect">
            <a:avLst/>
          </a:prstGeom>
          <a:solidFill>
            <a:srgbClr val="FFFFFF"/>
          </a:solidFill>
          <a:ln w="12700">
            <a:solidFill>
              <a:srgbClr val="000000"/>
            </a:solidFill>
            <a:prstDash val="solid"/>
          </a:ln>
        </p:spPr>
        <p:txBody>
          <a:bodyPr wrap="square" lIns="76200" tIns="76200" rIns="76200" bIns="7620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Trees · plants · crops · batches · fields · zones · species</a:t>
            </a:r>
            <a:endParaRPr lang="en-US" sz="1200" dirty="0"/>
          </a:p>
        </p:txBody>
      </p:sp>
      <p:sp>
        <p:nvSpPr>
          <p:cNvPr id="7" name="Text 5"/>
          <p:cNvSpPr txBox="1"/>
          <p:nvPr/>
        </p:nvSpPr>
        <p:spPr>
          <a:xfrm>
            <a:off x="594360" y="2185416"/>
            <a:ext cx="1600200" cy="530352"/>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Monitoring</a:t>
            </a:r>
            <a:endParaRPr lang="en-US" sz="1200" dirty="0"/>
          </a:p>
        </p:txBody>
      </p:sp>
      <p:sp>
        <p:nvSpPr>
          <p:cNvPr id="8" name="Text 6"/>
          <p:cNvSpPr txBox="1"/>
          <p:nvPr/>
        </p:nvSpPr>
        <p:spPr>
          <a:xfrm>
            <a:off x="2194560" y="2185416"/>
            <a:ext cx="4389120" cy="530352"/>
          </a:xfrm>
          <a:prstGeom prst="rect">
            <a:avLst/>
          </a:prstGeom>
          <a:solidFill>
            <a:srgbClr val="FFFFFF"/>
          </a:solidFill>
          <a:ln w="12700">
            <a:solidFill>
              <a:srgbClr val="000000"/>
            </a:solidFill>
            <a:prstDash val="solid"/>
          </a:ln>
        </p:spPr>
        <p:txBody>
          <a:bodyPr wrap="square" lIns="76200" tIns="76200" rIns="76200" bIns="7620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Health · growth · observations · photos · lifecycle stage</a:t>
            </a:r>
            <a:endParaRPr lang="en-US" sz="1200" dirty="0"/>
          </a:p>
        </p:txBody>
      </p:sp>
      <p:sp>
        <p:nvSpPr>
          <p:cNvPr id="9" name="Text 7"/>
          <p:cNvSpPr txBox="1"/>
          <p:nvPr/>
        </p:nvSpPr>
        <p:spPr>
          <a:xfrm>
            <a:off x="594360" y="2770632"/>
            <a:ext cx="1600200" cy="530352"/>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Operations</a:t>
            </a:r>
            <a:endParaRPr lang="en-US" sz="1200" dirty="0"/>
          </a:p>
        </p:txBody>
      </p:sp>
      <p:sp>
        <p:nvSpPr>
          <p:cNvPr id="10" name="Text 8"/>
          <p:cNvSpPr txBox="1"/>
          <p:nvPr/>
        </p:nvSpPr>
        <p:spPr>
          <a:xfrm>
            <a:off x="2194560" y="2770632"/>
            <a:ext cx="4389120" cy="530352"/>
          </a:xfrm>
          <a:prstGeom prst="rect">
            <a:avLst/>
          </a:prstGeom>
          <a:solidFill>
            <a:srgbClr val="FFFFFF"/>
          </a:solidFill>
          <a:ln w="12700">
            <a:solidFill>
              <a:srgbClr val="000000"/>
            </a:solidFill>
            <a:prstDash val="solid"/>
          </a:ln>
        </p:spPr>
        <p:txBody>
          <a:bodyPr wrap="square" lIns="76200" tIns="76200" rIns="76200" bIns="7620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Tasks · inspections · treatments · irrigation · planting · harvest records</a:t>
            </a:r>
            <a:endParaRPr lang="en-US" sz="1200" dirty="0"/>
          </a:p>
        </p:txBody>
      </p:sp>
      <p:sp>
        <p:nvSpPr>
          <p:cNvPr id="11" name="Text 9"/>
          <p:cNvSpPr txBox="1"/>
          <p:nvPr/>
        </p:nvSpPr>
        <p:spPr>
          <a:xfrm>
            <a:off x="594360" y="3355848"/>
            <a:ext cx="1600200" cy="530352"/>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Botanical Issues</a:t>
            </a:r>
            <a:endParaRPr lang="en-US" sz="1200" dirty="0"/>
          </a:p>
        </p:txBody>
      </p:sp>
      <p:sp>
        <p:nvSpPr>
          <p:cNvPr id="12" name="Text 10"/>
          <p:cNvSpPr txBox="1"/>
          <p:nvPr/>
        </p:nvSpPr>
        <p:spPr>
          <a:xfrm>
            <a:off x="2194560" y="3355848"/>
            <a:ext cx="4389120" cy="530352"/>
          </a:xfrm>
          <a:prstGeom prst="rect">
            <a:avLst/>
          </a:prstGeom>
          <a:solidFill>
            <a:srgbClr val="FFFFFF"/>
          </a:solidFill>
          <a:ln w="12700">
            <a:solidFill>
              <a:srgbClr val="000000"/>
            </a:solidFill>
            <a:prstDash val="solid"/>
          </a:ln>
        </p:spPr>
        <p:txBody>
          <a:bodyPr wrap="square" lIns="76200" tIns="76200" rIns="76200" bIns="7620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Create · severity · assignment · workflow · resolution · history</a:t>
            </a:r>
            <a:endParaRPr lang="en-US" sz="1200" dirty="0"/>
          </a:p>
        </p:txBody>
      </p:sp>
      <p:sp>
        <p:nvSpPr>
          <p:cNvPr id="13" name="Text 11"/>
          <p:cNvSpPr txBox="1"/>
          <p:nvPr/>
        </p:nvSpPr>
        <p:spPr>
          <a:xfrm>
            <a:off x="594360" y="3941064"/>
            <a:ext cx="1600200" cy="457200"/>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Map</a:t>
            </a:r>
            <a:endParaRPr lang="en-US" sz="1200" dirty="0"/>
          </a:p>
        </p:txBody>
      </p:sp>
      <p:sp>
        <p:nvSpPr>
          <p:cNvPr id="14" name="Text 12"/>
          <p:cNvSpPr txBox="1"/>
          <p:nvPr/>
        </p:nvSpPr>
        <p:spPr>
          <a:xfrm>
            <a:off x="2194560" y="3941064"/>
            <a:ext cx="4389120" cy="457200"/>
          </a:xfrm>
          <a:prstGeom prst="rect">
            <a:avLst/>
          </a:prstGeom>
          <a:solidFill>
            <a:srgbClr val="FFFFFF"/>
          </a:solidFill>
          <a:ln w="12700">
            <a:solidFill>
              <a:srgbClr val="000000"/>
            </a:solidFill>
            <a:prstDash val="solid"/>
          </a:ln>
        </p:spPr>
        <p:txBody>
          <a:bodyPr wrap="square" lIns="76200" tIns="76200" rIns="76200" bIns="7620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Assets, health, issues and tasks layers</a:t>
            </a:r>
            <a:endParaRPr lang="en-US" sz="1200" dirty="0"/>
          </a:p>
        </p:txBody>
      </p:sp>
      <p:sp>
        <p:nvSpPr>
          <p:cNvPr id="15" name="Text 13"/>
          <p:cNvSpPr txBox="1"/>
          <p:nvPr/>
        </p:nvSpPr>
        <p:spPr>
          <a:xfrm>
            <a:off x="594360" y="4453128"/>
            <a:ext cx="1600200" cy="822960"/>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Dashboards</a:t>
            </a:r>
            <a:endParaRPr lang="en-US" sz="1200" dirty="0"/>
          </a:p>
        </p:txBody>
      </p:sp>
      <p:sp>
        <p:nvSpPr>
          <p:cNvPr id="16" name="Text 14"/>
          <p:cNvSpPr txBox="1"/>
          <p:nvPr/>
        </p:nvSpPr>
        <p:spPr>
          <a:xfrm>
            <a:off x="2194560" y="4453128"/>
            <a:ext cx="4389120" cy="822960"/>
          </a:xfrm>
          <a:prstGeom prst="rect">
            <a:avLst/>
          </a:prstGeom>
          <a:solidFill>
            <a:srgbClr val="FFFFFF"/>
          </a:solidFill>
          <a:ln w="12700">
            <a:solidFill>
              <a:srgbClr val="000000"/>
            </a:solidFill>
            <a:prstDash val="solid"/>
          </a:ln>
        </p:spPr>
        <p:txBody>
          <a:bodyPr wrap="square" lIns="76200" tIns="76200" rIns="76200" bIns="7620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Green: survival, health, growth, canopy, coverage. Agri: growth, health, yield, harvest, revenue (yield, harvest and revenue estimates stay 'Coming soon')</a:t>
            </a:r>
            <a:endParaRPr lang="en-US" sz="1200" dirty="0"/>
          </a:p>
        </p:txBody>
      </p:sp>
      <p:sp>
        <p:nvSpPr>
          <p:cNvPr id="17" name="Text 15"/>
          <p:cNvSpPr txBox="1"/>
          <p:nvPr/>
        </p:nvSpPr>
        <p:spPr>
          <a:xfrm>
            <a:off x="594360" y="5330952"/>
            <a:ext cx="1600200" cy="658368"/>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Botanical Operations Agent</a:t>
            </a:r>
            <a:endParaRPr lang="en-US" sz="1200" dirty="0"/>
          </a:p>
        </p:txBody>
      </p:sp>
      <p:sp>
        <p:nvSpPr>
          <p:cNvPr id="18" name="Text 16"/>
          <p:cNvSpPr txBox="1"/>
          <p:nvPr/>
        </p:nvSpPr>
        <p:spPr>
          <a:xfrm>
            <a:off x="2194560" y="5330952"/>
            <a:ext cx="4389120" cy="658368"/>
          </a:xfrm>
          <a:prstGeom prst="rect">
            <a:avLst/>
          </a:prstGeom>
          <a:solidFill>
            <a:srgbClr val="FFFFFF"/>
          </a:solidFill>
          <a:ln w="12700">
            <a:solidFill>
              <a:srgbClr val="000000"/>
            </a:solidFill>
            <a:prstDash val="solid"/>
          </a:ln>
        </p:spPr>
        <p:txBody>
          <a:bodyPr wrap="square" lIns="76200" tIns="76200" rIns="76200" bIns="7620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Rules, thresholds, statistical anomaly checks, weather context → structured recommendations</a:t>
            </a:r>
            <a:endParaRPr lang="en-US" sz="1200" dirty="0"/>
          </a:p>
        </p:txBody>
      </p:sp>
      <p:sp>
        <p:nvSpPr>
          <p:cNvPr id="19" name="Text 17"/>
          <p:cNvSpPr txBox="1"/>
          <p:nvPr/>
        </p:nvSpPr>
        <p:spPr>
          <a:xfrm>
            <a:off x="6812280" y="1600200"/>
            <a:ext cx="4800600" cy="137160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endParaRPr lang="en-US" sz="1100" dirty="0"/>
          </a:p>
        </p:txBody>
      </p:sp>
      <p:sp>
        <p:nvSpPr>
          <p:cNvPr id="20" name="Text 18"/>
          <p:cNvSpPr txBox="1"/>
          <p:nvPr/>
        </p:nvSpPr>
        <p:spPr>
          <a:xfrm>
            <a:off x="6922008" y="1673352"/>
            <a:ext cx="4581144" cy="256032"/>
          </a:xfrm>
          <a:prstGeom prst="rect">
            <a:avLst/>
          </a:prstGeom>
          <a:noFill/>
          <a:ln/>
        </p:spPr>
        <p:txBody>
          <a:bodyPr wrap="square" lIns="0" tIns="0" rIns="0" bIns="0" rtlCol="0" anchor="t"/>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V2 · Prediction</a:t>
            </a:r>
            <a:endParaRPr lang="en-US" sz="1300" dirty="0"/>
          </a:p>
        </p:txBody>
      </p:sp>
      <p:sp>
        <p:nvSpPr>
          <p:cNvPr id="21" name="Text 19"/>
          <p:cNvSpPr txBox="1"/>
          <p:nvPr/>
        </p:nvSpPr>
        <p:spPr>
          <a:xfrm>
            <a:off x="6922008" y="1965960"/>
            <a:ext cx="4581144" cy="960120"/>
          </a:xfrm>
          <a:prstGeom prst="rect">
            <a:avLst/>
          </a:prstGeom>
          <a:noFill/>
          <a:ln/>
        </p:spPr>
        <p:txBody>
          <a:bodyPr wrap="square" lIns="0" tIns="0" rIns="0" bIns="0" rtlCol="0" anchor="t"/>
          <a:lstStyle/>
          <a:p>
            <a:pPr algn="l" indent="0" marL="0">
              <a:buNone/>
            </a:pPr>
            <a:r>
              <a:rPr lang="en-US" sz="1200" dirty="0">
                <a:solidFill>
                  <a:srgbClr val="202124"/>
                </a:solidFill>
                <a:latin typeface="Times New Roman" pitchFamily="34" charset="0"/>
                <a:ea typeface="Times New Roman" pitchFamily="34" charset="-122"/>
                <a:cs typeface="Times New Roman" pitchFamily="34" charset="-120"/>
              </a:rPr>
              <a:t>Disease detection (image → computer vision → issue → task) · growth, survival, yield and harvest prediction</a:t>
            </a:r>
            <a:endParaRPr lang="en-US" sz="1200" dirty="0"/>
          </a:p>
        </p:txBody>
      </p:sp>
      <p:sp>
        <p:nvSpPr>
          <p:cNvPr id="22" name="Text 20"/>
          <p:cNvSpPr txBox="1"/>
          <p:nvPr/>
        </p:nvSpPr>
        <p:spPr>
          <a:xfrm>
            <a:off x="6812280" y="3063240"/>
            <a:ext cx="4800600" cy="137160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endParaRPr lang="en-US" sz="1100" dirty="0"/>
          </a:p>
        </p:txBody>
      </p:sp>
      <p:sp>
        <p:nvSpPr>
          <p:cNvPr id="23" name="Text 21"/>
          <p:cNvSpPr txBox="1"/>
          <p:nvPr/>
        </p:nvSpPr>
        <p:spPr>
          <a:xfrm>
            <a:off x="6922008" y="3136392"/>
            <a:ext cx="4581144" cy="256032"/>
          </a:xfrm>
          <a:prstGeom prst="rect">
            <a:avLst/>
          </a:prstGeom>
          <a:noFill/>
          <a:ln/>
        </p:spPr>
        <p:txBody>
          <a:bodyPr wrap="square" lIns="0" tIns="0" rIns="0" bIns="0" rtlCol="0" anchor="t"/>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V3 · Recommendation</a:t>
            </a:r>
            <a:endParaRPr lang="en-US" sz="1300" dirty="0"/>
          </a:p>
        </p:txBody>
      </p:sp>
      <p:sp>
        <p:nvSpPr>
          <p:cNvPr id="24" name="Text 22"/>
          <p:cNvSpPr txBox="1"/>
          <p:nvPr/>
        </p:nvSpPr>
        <p:spPr>
          <a:xfrm>
            <a:off x="6922008" y="3429000"/>
            <a:ext cx="4581144" cy="960120"/>
          </a:xfrm>
          <a:prstGeom prst="rect">
            <a:avLst/>
          </a:prstGeom>
          <a:noFill/>
          <a:ln/>
        </p:spPr>
        <p:txBody>
          <a:bodyPr wrap="square" lIns="0" tIns="0" rIns="0" bIns="0" rtlCol="0" anchor="t"/>
          <a:lstStyle/>
          <a:p>
            <a:pPr algn="l" indent="0" marL="0">
              <a:buNone/>
            </a:pPr>
            <a:r>
              <a:rPr lang="en-US" sz="1200" dirty="0">
                <a:solidFill>
                  <a:srgbClr val="202124"/>
                </a:solidFill>
                <a:latin typeface="Times New Roman" pitchFamily="34" charset="0"/>
                <a:ea typeface="Times New Roman" pitchFamily="34" charset="-122"/>
                <a:cs typeface="Times New Roman" pitchFamily="34" charset="-120"/>
              </a:rPr>
              <a:t>Crop recommendation (soil + weather + location + water + season + market) · irrigation recommendation · profitability range</a:t>
            </a:r>
            <a:endParaRPr lang="en-US" sz="1200" dirty="0"/>
          </a:p>
        </p:txBody>
      </p:sp>
      <p:sp>
        <p:nvSpPr>
          <p:cNvPr id="25" name="Text 23"/>
          <p:cNvSpPr txBox="1"/>
          <p:nvPr/>
        </p:nvSpPr>
        <p:spPr>
          <a:xfrm>
            <a:off x="6812280" y="4526280"/>
            <a:ext cx="4800600" cy="109728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endParaRPr lang="en-US" sz="1100" dirty="0"/>
          </a:p>
        </p:txBody>
      </p:sp>
      <p:sp>
        <p:nvSpPr>
          <p:cNvPr id="26" name="Text 24"/>
          <p:cNvSpPr txBox="1"/>
          <p:nvPr/>
        </p:nvSpPr>
        <p:spPr>
          <a:xfrm>
            <a:off x="6922008" y="4599432"/>
            <a:ext cx="4581144" cy="256032"/>
          </a:xfrm>
          <a:prstGeom prst="rect">
            <a:avLst/>
          </a:prstGeom>
          <a:noFill/>
          <a:ln/>
        </p:spPr>
        <p:txBody>
          <a:bodyPr wrap="square" lIns="0" tIns="0" rIns="0" bIns="0" rtlCol="0" anchor="t"/>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V4 · Optimization</a:t>
            </a:r>
            <a:endParaRPr lang="en-US" sz="1300" dirty="0"/>
          </a:p>
        </p:txBody>
      </p:sp>
      <p:sp>
        <p:nvSpPr>
          <p:cNvPr id="27" name="Text 25"/>
          <p:cNvSpPr txBox="1"/>
          <p:nvPr/>
        </p:nvSpPr>
        <p:spPr>
          <a:xfrm>
            <a:off x="6922008" y="4892040"/>
            <a:ext cx="4581144" cy="685800"/>
          </a:xfrm>
          <a:prstGeom prst="rect">
            <a:avLst/>
          </a:prstGeom>
          <a:noFill/>
          <a:ln/>
        </p:spPr>
        <p:txBody>
          <a:bodyPr wrap="square" lIns="0" tIns="0" rIns="0" bIns="0" rtlCol="0" anchor="t"/>
          <a:lstStyle/>
          <a:p>
            <a:pPr algn="l" indent="0" marL="0">
              <a:buNone/>
            </a:pPr>
            <a:r>
              <a:rPr lang="en-US" sz="1200" dirty="0">
                <a:solidFill>
                  <a:srgbClr val="202124"/>
                </a:solidFill>
                <a:latin typeface="Times New Roman" pitchFamily="34" charset="0"/>
                <a:ea typeface="Times New Roman" pitchFamily="34" charset="-122"/>
                <a:cs typeface="Times New Roman" pitchFamily="34" charset="-120"/>
              </a:rPr>
              <a:t>Best operating strategy under land, water, labour, weather, crop economics and risk constraints</a:t>
            </a:r>
            <a:endParaRPr lang="en-US" sz="1200" dirty="0"/>
          </a:p>
        </p:txBody>
      </p:sp>
      <p:sp>
        <p:nvSpPr>
          <p:cNvPr id="28" name="Text 26"/>
          <p:cNvSpPr txBox="1"/>
          <p:nvPr/>
        </p:nvSpPr>
        <p:spPr>
          <a:xfrm>
            <a:off x="6812280" y="5733288"/>
            <a:ext cx="4800600" cy="822960"/>
          </a:xfrm>
          <a:prstGeom prst="rect">
            <a:avLst/>
          </a:prstGeom>
          <a:noFill/>
          <a:ln/>
        </p:spPr>
        <p:txBody>
          <a:bodyPr wrap="square" lIns="0" tIns="0" rIns="0" bIns="0" rtlCol="0" anchor="t"/>
          <a:lstStyle/>
          <a:p>
            <a:pPr algn="l" indent="0" marL="0">
              <a:buNone/>
            </a:pPr>
            <a:r>
              <a:rPr lang="en-US" sz="1200" i="1" dirty="0">
                <a:solidFill>
                  <a:srgbClr val="000000"/>
                </a:solidFill>
                <a:latin typeface="Times New Roman" pitchFamily="34" charset="0"/>
                <a:ea typeface="Times New Roman" pitchFamily="34" charset="-122"/>
                <a:cs typeface="Times New Roman" pitchFamily="34" charset="-120"/>
              </a:rPr>
              <a:t>Planned modules already appear in the MVP interface as 'Coming soon' with real layouts. No predicted or recommended value is shown until a real model produces it.</a:t>
            </a:r>
            <a:endParaRPr lang="en-US" sz="1200" dirty="0"/>
          </a:p>
        </p:txBody>
      </p:sp>
      <p:sp>
        <p:nvSpPr>
          <p:cNvPr id="29" name="Text 27"/>
          <p:cNvSpPr txBox="1"/>
          <p:nvPr/>
        </p:nvSpPr>
        <p:spPr>
          <a:xfrm>
            <a:off x="594360" y="6172200"/>
            <a:ext cx="5989320" cy="411480"/>
          </a:xfrm>
          <a:prstGeom prst="rect">
            <a:avLst/>
          </a:prstGeom>
          <a:noFill/>
          <a:ln/>
        </p:spPr>
        <p:txBody>
          <a:bodyPr wrap="square" lIns="0" tIns="0" rIns="0" bIns="0" rtlCol="0" anchor="t"/>
          <a:lstStyle/>
          <a:p>
            <a:pPr algn="l" indent="0" marL="0">
              <a:buNone/>
            </a:pPr>
            <a:r>
              <a:rPr lang="en-US" sz="1200" i="1" dirty="0">
                <a:solidFill>
                  <a:srgbClr val="595959"/>
                </a:solidFill>
                <a:latin typeface="Times New Roman" pitchFamily="34" charset="0"/>
                <a:ea typeface="Times New Roman" pitchFamily="34" charset="-122"/>
                <a:cs typeface="Times New Roman" pitchFamily="34" charset="-120"/>
              </a:rPr>
              <a:t>Each stage needs real recorded data, so the MVP captures time-stamped observations, treatments, costs and outcomes from day 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i="1" dirty="0">
                <a:solidFill>
                  <a:srgbClr val="000000"/>
                </a:solidFill>
                <a:latin typeface="Bookman Old Style" pitchFamily="34" charset="0"/>
                <a:ea typeface="Bookman Old Style" pitchFamily="34" charset="-122"/>
                <a:cs typeface="Bookman Old Style" pitchFamily="34" charset="-120"/>
              </a:rPr>
              <a:t>Workflow of Project</a:t>
            </a:r>
            <a:endParaRPr lang="en-US" sz="2800" dirty="0"/>
          </a:p>
        </p:txBody>
      </p:sp>
      <p:sp>
        <p:nvSpPr>
          <p:cNvPr id="3" name="Text 1"/>
          <p:cNvSpPr txBox="1"/>
          <p:nvPr/>
        </p:nvSpPr>
        <p:spPr>
          <a:xfrm>
            <a:off x="594360" y="1097280"/>
            <a:ext cx="1325880" cy="841248"/>
          </a:xfrm>
          <a:prstGeom prst="rect">
            <a:avLst/>
          </a:prstGeom>
          <a:solidFill>
            <a:srgbClr val="F2F2F2"/>
          </a:solidFill>
          <a:ln w="12700">
            <a:solidFill>
              <a:srgbClr val="000000"/>
            </a:solidFill>
            <a:prstDash val="solid"/>
          </a:ln>
        </p:spPr>
        <p:txBody>
          <a:bodyPr wrap="square" lIns="50800" tIns="50800" rIns="50800" bIns="5080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Field worker</a:t>
            </a:r>
            <a:endParaRPr lang="en-US" sz="1100" dirty="0"/>
          </a:p>
        </p:txBody>
      </p:sp>
      <p:sp>
        <p:nvSpPr>
          <p:cNvPr id="4" name="lane-0"/>
          <p:cNvSpPr txBox="1"/>
          <p:nvPr/>
        </p:nvSpPr>
        <p:spPr>
          <a:xfrm>
            <a:off x="1965960" y="1097280"/>
            <a:ext cx="9646920" cy="841248"/>
          </a:xfrm>
          <a:prstGeom prst="rect">
            <a:avLst/>
          </a:prstGeom>
          <a:solidFill>
            <a:srgbClr val="FFFFFF"/>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 name="Text 3"/>
          <p:cNvSpPr txBox="1"/>
          <p:nvPr/>
        </p:nvSpPr>
        <p:spPr>
          <a:xfrm>
            <a:off x="594360" y="1993392"/>
            <a:ext cx="1325880" cy="841248"/>
          </a:xfrm>
          <a:prstGeom prst="rect">
            <a:avLst/>
          </a:prstGeom>
          <a:solidFill>
            <a:srgbClr val="F2F2F2"/>
          </a:solidFill>
          <a:ln w="12700">
            <a:solidFill>
              <a:srgbClr val="000000"/>
            </a:solidFill>
            <a:prstDash val="solid"/>
          </a:ln>
        </p:spPr>
        <p:txBody>
          <a:bodyPr wrap="square" lIns="50800" tIns="50800" rIns="50800" bIns="5080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Botanical Operations Agent (system)</a:t>
            </a:r>
            <a:endParaRPr lang="en-US" sz="1100" dirty="0"/>
          </a:p>
        </p:txBody>
      </p:sp>
      <p:sp>
        <p:nvSpPr>
          <p:cNvPr id="6" name="lane-1"/>
          <p:cNvSpPr txBox="1"/>
          <p:nvPr/>
        </p:nvSpPr>
        <p:spPr>
          <a:xfrm>
            <a:off x="1965960" y="1993392"/>
            <a:ext cx="9646920" cy="841248"/>
          </a:xfrm>
          <a:prstGeom prst="rect">
            <a:avLst/>
          </a:prstGeom>
          <a:solidFill>
            <a:srgbClr val="FFFFFF"/>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 name="Text 5"/>
          <p:cNvSpPr txBox="1"/>
          <p:nvPr/>
        </p:nvSpPr>
        <p:spPr>
          <a:xfrm>
            <a:off x="594360" y="2889504"/>
            <a:ext cx="1325880" cy="841248"/>
          </a:xfrm>
          <a:prstGeom prst="rect">
            <a:avLst/>
          </a:prstGeom>
          <a:solidFill>
            <a:srgbClr val="F2F2F2"/>
          </a:solidFill>
          <a:ln w="12700">
            <a:solidFill>
              <a:srgbClr val="000000"/>
            </a:solidFill>
            <a:prstDash val="solid"/>
          </a:ln>
        </p:spPr>
        <p:txBody>
          <a:bodyPr wrap="square" lIns="50800" tIns="50800" rIns="50800" bIns="5080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Manager / owner</a:t>
            </a:r>
            <a:endParaRPr lang="en-US" sz="1100" dirty="0"/>
          </a:p>
        </p:txBody>
      </p:sp>
      <p:sp>
        <p:nvSpPr>
          <p:cNvPr id="8" name="lane-2"/>
          <p:cNvSpPr txBox="1"/>
          <p:nvPr/>
        </p:nvSpPr>
        <p:spPr>
          <a:xfrm>
            <a:off x="1965960" y="2889504"/>
            <a:ext cx="9646920" cy="841248"/>
          </a:xfrm>
          <a:prstGeom prst="rect">
            <a:avLst/>
          </a:prstGeom>
          <a:solidFill>
            <a:srgbClr val="FFFFFF"/>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 name="wf-0"/>
          <p:cNvSpPr txBox="1"/>
          <p:nvPr/>
        </p:nvSpPr>
        <p:spPr>
          <a:xfrm>
            <a:off x="2103120" y="1161288"/>
            <a:ext cx="1371600" cy="6766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 Register asset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(species, place, stage)</a:t>
            </a:r>
            <a:endParaRPr lang="en-US" sz="1100" dirty="0"/>
          </a:p>
        </p:txBody>
      </p:sp>
      <p:sp>
        <p:nvSpPr>
          <p:cNvPr id="10" name="wf-1"/>
          <p:cNvSpPr txBox="1"/>
          <p:nvPr/>
        </p:nvSpPr>
        <p:spPr>
          <a:xfrm>
            <a:off x="3657600" y="1161288"/>
            <a:ext cx="1371600" cy="6766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2 Record observation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(health, symptoms, photo)</a:t>
            </a:r>
            <a:endParaRPr lang="en-US" sz="1100" dirty="0"/>
          </a:p>
        </p:txBody>
      </p:sp>
      <p:sp>
        <p:nvSpPr>
          <p:cNvPr id="11" name="wf-2"/>
          <p:cNvSpPr txBox="1"/>
          <p:nvPr/>
        </p:nvSpPr>
        <p:spPr>
          <a:xfrm>
            <a:off x="5212080" y="2057400"/>
            <a:ext cx="1371600" cy="6766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 Evaluate rules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 recommendation + why</a:t>
            </a:r>
            <a:endParaRPr lang="en-US" sz="1100" dirty="0"/>
          </a:p>
        </p:txBody>
      </p:sp>
      <p:sp>
        <p:nvSpPr>
          <p:cNvPr id="12" name="wf-3"/>
          <p:cNvSpPr txBox="1"/>
          <p:nvPr/>
        </p:nvSpPr>
        <p:spPr>
          <a:xfrm>
            <a:off x="6766560" y="2953512"/>
            <a:ext cx="1371600" cy="6766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 Accept → botanical issue + task</a:t>
            </a:r>
            <a:endParaRPr lang="en-US" sz="1100" dirty="0"/>
          </a:p>
        </p:txBody>
      </p:sp>
      <p:sp>
        <p:nvSpPr>
          <p:cNvPr id="13" name="wf-4"/>
          <p:cNvSpPr txBox="1"/>
          <p:nvPr/>
        </p:nvSpPr>
        <p:spPr>
          <a:xfrm>
            <a:off x="8321040" y="1161288"/>
            <a:ext cx="1371600" cy="6766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 Field action,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log the result</a:t>
            </a:r>
            <a:endParaRPr lang="en-US" sz="1100" dirty="0"/>
          </a:p>
        </p:txBody>
      </p:sp>
      <p:sp>
        <p:nvSpPr>
          <p:cNvPr id="14" name="wf-5"/>
          <p:cNvSpPr txBox="1"/>
          <p:nvPr/>
        </p:nvSpPr>
        <p:spPr>
          <a:xfrm>
            <a:off x="9875520" y="1161288"/>
            <a:ext cx="1371600" cy="6766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6 Recheck:</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new observation</a:t>
            </a:r>
            <a:endParaRPr lang="en-US" sz="1100" dirty="0"/>
          </a:p>
        </p:txBody>
      </p:sp>
      <p:sp>
        <p:nvSpPr>
          <p:cNvPr id="15" name="wf-6"/>
          <p:cNvSpPr txBox="1"/>
          <p:nvPr/>
        </p:nvSpPr>
        <p:spPr>
          <a:xfrm>
            <a:off x="9875520" y="2953512"/>
            <a:ext cx="1371600" cy="6766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 Resolve issue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after verification</a:t>
            </a:r>
            <a:endParaRPr lang="en-US" sz="1100" dirty="0"/>
          </a:p>
        </p:txBody>
      </p:sp>
      <p:sp>
        <p:nvSpPr>
          <p:cNvPr id="16" name="Shape 14"/>
          <p:cNvSpPr/>
          <p:nvPr/>
        </p:nvSpPr>
        <p:spPr>
          <a:xfrm>
            <a:off x="3474720" y="1499616"/>
            <a:ext cx="182880" cy="0"/>
          </a:xfrm>
          <a:prstGeom prst="line">
            <a:avLst/>
          </a:prstGeom>
          <a:noFill/>
          <a:ln w="15875">
            <a:solidFill>
              <a:srgbClr val="000000"/>
            </a:solidFill>
            <a:prstDash val="solid"/>
            <a:tailEnd type="triangle"/>
          </a:ln>
        </p:spPr>
      </p:sp>
      <p:sp>
        <p:nvSpPr>
          <p:cNvPr id="17" name="Shape 15"/>
          <p:cNvSpPr/>
          <p:nvPr/>
        </p:nvSpPr>
        <p:spPr>
          <a:xfrm>
            <a:off x="5029200" y="1499616"/>
            <a:ext cx="91440" cy="0"/>
          </a:xfrm>
          <a:prstGeom prst="line">
            <a:avLst/>
          </a:prstGeom>
          <a:noFill/>
          <a:ln w="15875">
            <a:solidFill>
              <a:srgbClr val="000000"/>
            </a:solidFill>
            <a:prstDash val="solid"/>
          </a:ln>
        </p:spPr>
      </p:sp>
      <p:sp>
        <p:nvSpPr>
          <p:cNvPr id="18" name="Shape 16"/>
          <p:cNvSpPr/>
          <p:nvPr/>
        </p:nvSpPr>
        <p:spPr>
          <a:xfrm>
            <a:off x="5120640" y="1499616"/>
            <a:ext cx="0" cy="896112"/>
          </a:xfrm>
          <a:prstGeom prst="line">
            <a:avLst/>
          </a:prstGeom>
          <a:noFill/>
          <a:ln w="15875">
            <a:solidFill>
              <a:srgbClr val="000000"/>
            </a:solidFill>
            <a:prstDash val="solid"/>
          </a:ln>
        </p:spPr>
      </p:sp>
      <p:sp>
        <p:nvSpPr>
          <p:cNvPr id="19" name="Shape 17"/>
          <p:cNvSpPr/>
          <p:nvPr/>
        </p:nvSpPr>
        <p:spPr>
          <a:xfrm>
            <a:off x="5120640" y="2395728"/>
            <a:ext cx="91440" cy="0"/>
          </a:xfrm>
          <a:prstGeom prst="line">
            <a:avLst/>
          </a:prstGeom>
          <a:noFill/>
          <a:ln w="15875">
            <a:solidFill>
              <a:srgbClr val="000000"/>
            </a:solidFill>
            <a:prstDash val="solid"/>
            <a:tailEnd type="triangle"/>
          </a:ln>
        </p:spPr>
      </p:sp>
      <p:sp>
        <p:nvSpPr>
          <p:cNvPr id="20" name="Shape 18"/>
          <p:cNvSpPr/>
          <p:nvPr/>
        </p:nvSpPr>
        <p:spPr>
          <a:xfrm>
            <a:off x="6583680" y="2395728"/>
            <a:ext cx="91440" cy="0"/>
          </a:xfrm>
          <a:prstGeom prst="line">
            <a:avLst/>
          </a:prstGeom>
          <a:noFill/>
          <a:ln w="15875">
            <a:solidFill>
              <a:srgbClr val="000000"/>
            </a:solidFill>
            <a:prstDash val="solid"/>
          </a:ln>
        </p:spPr>
      </p:sp>
      <p:sp>
        <p:nvSpPr>
          <p:cNvPr id="21" name="Shape 19"/>
          <p:cNvSpPr/>
          <p:nvPr/>
        </p:nvSpPr>
        <p:spPr>
          <a:xfrm>
            <a:off x="6675120" y="2395728"/>
            <a:ext cx="0" cy="896112"/>
          </a:xfrm>
          <a:prstGeom prst="line">
            <a:avLst/>
          </a:prstGeom>
          <a:noFill/>
          <a:ln w="15875">
            <a:solidFill>
              <a:srgbClr val="000000"/>
            </a:solidFill>
            <a:prstDash val="solid"/>
          </a:ln>
        </p:spPr>
      </p:sp>
      <p:sp>
        <p:nvSpPr>
          <p:cNvPr id="22" name="Shape 20"/>
          <p:cNvSpPr/>
          <p:nvPr/>
        </p:nvSpPr>
        <p:spPr>
          <a:xfrm>
            <a:off x="6675120" y="3291840"/>
            <a:ext cx="91440" cy="0"/>
          </a:xfrm>
          <a:prstGeom prst="line">
            <a:avLst/>
          </a:prstGeom>
          <a:noFill/>
          <a:ln w="15875">
            <a:solidFill>
              <a:srgbClr val="000000"/>
            </a:solidFill>
            <a:prstDash val="solid"/>
            <a:tailEnd type="triangle"/>
          </a:ln>
        </p:spPr>
      </p:sp>
      <p:sp>
        <p:nvSpPr>
          <p:cNvPr id="23" name="Shape 21"/>
          <p:cNvSpPr/>
          <p:nvPr/>
        </p:nvSpPr>
        <p:spPr>
          <a:xfrm>
            <a:off x="8138160" y="3291840"/>
            <a:ext cx="91440" cy="0"/>
          </a:xfrm>
          <a:prstGeom prst="line">
            <a:avLst/>
          </a:prstGeom>
          <a:noFill/>
          <a:ln w="15875">
            <a:solidFill>
              <a:srgbClr val="000000"/>
            </a:solidFill>
            <a:prstDash val="solid"/>
          </a:ln>
        </p:spPr>
      </p:sp>
      <p:sp>
        <p:nvSpPr>
          <p:cNvPr id="24" name="Shape 22"/>
          <p:cNvSpPr/>
          <p:nvPr/>
        </p:nvSpPr>
        <p:spPr>
          <a:xfrm flipV="1">
            <a:off x="8229600" y="1499616"/>
            <a:ext cx="0" cy="1792224"/>
          </a:xfrm>
          <a:prstGeom prst="line">
            <a:avLst/>
          </a:prstGeom>
          <a:noFill/>
          <a:ln w="15875">
            <a:solidFill>
              <a:srgbClr val="000000"/>
            </a:solidFill>
            <a:prstDash val="solid"/>
          </a:ln>
        </p:spPr>
      </p:sp>
      <p:sp>
        <p:nvSpPr>
          <p:cNvPr id="25" name="Shape 23"/>
          <p:cNvSpPr/>
          <p:nvPr/>
        </p:nvSpPr>
        <p:spPr>
          <a:xfrm>
            <a:off x="8229600" y="1499616"/>
            <a:ext cx="91440" cy="0"/>
          </a:xfrm>
          <a:prstGeom prst="line">
            <a:avLst/>
          </a:prstGeom>
          <a:noFill/>
          <a:ln w="15875">
            <a:solidFill>
              <a:srgbClr val="000000"/>
            </a:solidFill>
            <a:prstDash val="solid"/>
            <a:tailEnd type="triangle"/>
          </a:ln>
        </p:spPr>
      </p:sp>
      <p:sp>
        <p:nvSpPr>
          <p:cNvPr id="26" name="Shape 24"/>
          <p:cNvSpPr/>
          <p:nvPr/>
        </p:nvSpPr>
        <p:spPr>
          <a:xfrm>
            <a:off x="9692640" y="1499616"/>
            <a:ext cx="182880" cy="0"/>
          </a:xfrm>
          <a:prstGeom prst="line">
            <a:avLst/>
          </a:prstGeom>
          <a:noFill/>
          <a:ln w="15875">
            <a:solidFill>
              <a:srgbClr val="000000"/>
            </a:solidFill>
            <a:prstDash val="solid"/>
            <a:tailEnd type="triangle"/>
          </a:ln>
        </p:spPr>
      </p:sp>
      <p:sp>
        <p:nvSpPr>
          <p:cNvPr id="27" name="Shape 25"/>
          <p:cNvSpPr/>
          <p:nvPr/>
        </p:nvSpPr>
        <p:spPr>
          <a:xfrm>
            <a:off x="10561320" y="1837944"/>
            <a:ext cx="0" cy="1115568"/>
          </a:xfrm>
          <a:prstGeom prst="line">
            <a:avLst/>
          </a:prstGeom>
          <a:noFill/>
          <a:ln w="15875">
            <a:solidFill>
              <a:srgbClr val="000000"/>
            </a:solidFill>
            <a:prstDash val="solid"/>
            <a:tailEnd type="triangle"/>
          </a:ln>
        </p:spPr>
      </p:sp>
      <p:sp>
        <p:nvSpPr>
          <p:cNvPr id="28" name="Text 26"/>
          <p:cNvSpPr txBox="1"/>
          <p:nvPr/>
        </p:nvSpPr>
        <p:spPr>
          <a:xfrm>
            <a:off x="594360" y="3803904"/>
            <a:ext cx="1325880" cy="274320"/>
          </a:xfrm>
          <a:prstGeom prst="rect">
            <a:avLst/>
          </a:prstGeom>
          <a:noFill/>
          <a:ln/>
        </p:spPr>
        <p:txBody>
          <a:bodyPr wrap="square" lIns="0" tIns="0" rIns="0" bIns="0" rtlCol="0" anchor="t"/>
          <a:lstStyle/>
          <a:p>
            <a:pPr algn="l" indent="0" marL="0">
              <a:buNone/>
            </a:pPr>
            <a:r>
              <a:rPr lang="en-US" sz="1100" b="1" i="1" dirty="0">
                <a:solidFill>
                  <a:srgbClr val="202124"/>
                </a:solidFill>
                <a:latin typeface="Calibri" pitchFamily="34" charset="0"/>
                <a:ea typeface="Calibri" pitchFamily="34" charset="-122"/>
                <a:cs typeface="Calibri" pitchFamily="34" charset="-120"/>
              </a:rPr>
              <a:t>Data exchanged</a:t>
            </a:r>
            <a:endParaRPr lang="en-US" sz="1100" dirty="0"/>
          </a:p>
        </p:txBody>
      </p:sp>
      <p:sp>
        <p:nvSpPr>
          <p:cNvPr id="29" name="Text 27"/>
          <p:cNvSpPr txBox="1"/>
          <p:nvPr/>
        </p:nvSpPr>
        <p:spPr>
          <a:xfrm>
            <a:off x="2103120" y="3803904"/>
            <a:ext cx="1371600" cy="365760"/>
          </a:xfrm>
          <a:prstGeom prst="rect">
            <a:avLst/>
          </a:prstGeom>
          <a:noFill/>
          <a:ln/>
        </p:spPr>
        <p:txBody>
          <a:bodyPr wrap="square" lIns="0" tIns="0" rIns="0" bIns="0" rtlCol="0" anchor="t"/>
          <a:lstStyle/>
          <a:p>
            <a:pPr algn="ctr" indent="0" marL="0">
              <a:buNone/>
            </a:pPr>
            <a:r>
              <a:rPr lang="en-US" sz="1050" i="1" dirty="0">
                <a:solidFill>
                  <a:srgbClr val="595959"/>
                </a:solidFill>
                <a:latin typeface="Calibri" pitchFamily="34" charset="0"/>
                <a:ea typeface="Calibri" pitchFamily="34" charset="-122"/>
                <a:cs typeface="Calibri" pitchFamily="34" charset="-120"/>
              </a:rPr>
              <a:t>asset record</a:t>
            </a:r>
            <a:endParaRPr lang="en-US" sz="1050" dirty="0"/>
          </a:p>
        </p:txBody>
      </p:sp>
      <p:sp>
        <p:nvSpPr>
          <p:cNvPr id="30" name="Text 28"/>
          <p:cNvSpPr txBox="1"/>
          <p:nvPr/>
        </p:nvSpPr>
        <p:spPr>
          <a:xfrm>
            <a:off x="3657600" y="3803904"/>
            <a:ext cx="1371600" cy="365760"/>
          </a:xfrm>
          <a:prstGeom prst="rect">
            <a:avLst/>
          </a:prstGeom>
          <a:noFill/>
          <a:ln/>
        </p:spPr>
        <p:txBody>
          <a:bodyPr wrap="square" lIns="0" tIns="0" rIns="0" bIns="0" rtlCol="0" anchor="t"/>
          <a:lstStyle/>
          <a:p>
            <a:pPr algn="ctr" indent="0" marL="0">
              <a:buNone/>
            </a:pPr>
            <a:r>
              <a:rPr lang="en-US" sz="1050" i="1" dirty="0">
                <a:solidFill>
                  <a:srgbClr val="595959"/>
                </a:solidFill>
                <a:latin typeface="Calibri" pitchFamily="34" charset="0"/>
                <a:ea typeface="Calibri" pitchFamily="34" charset="-122"/>
                <a:cs typeface="Calibri" pitchFamily="34" charset="-120"/>
              </a:rPr>
              <a:t>observation + photo</a:t>
            </a:r>
            <a:endParaRPr lang="en-US" sz="1050" dirty="0"/>
          </a:p>
        </p:txBody>
      </p:sp>
      <p:sp>
        <p:nvSpPr>
          <p:cNvPr id="31" name="Text 29"/>
          <p:cNvSpPr txBox="1"/>
          <p:nvPr/>
        </p:nvSpPr>
        <p:spPr>
          <a:xfrm>
            <a:off x="5212080" y="3803904"/>
            <a:ext cx="1371600" cy="365760"/>
          </a:xfrm>
          <a:prstGeom prst="rect">
            <a:avLst/>
          </a:prstGeom>
          <a:noFill/>
          <a:ln/>
        </p:spPr>
        <p:txBody>
          <a:bodyPr wrap="square" lIns="0" tIns="0" rIns="0" bIns="0" rtlCol="0" anchor="t"/>
          <a:lstStyle/>
          <a:p>
            <a:pPr algn="ctr" indent="0" marL="0">
              <a:buNone/>
            </a:pPr>
            <a:r>
              <a:rPr lang="en-US" sz="1050" i="1" dirty="0">
                <a:solidFill>
                  <a:srgbClr val="595959"/>
                </a:solidFill>
                <a:latin typeface="Calibri" pitchFamily="34" charset="0"/>
                <a:ea typeface="Calibri" pitchFamily="34" charset="-122"/>
                <a:cs typeface="Calibri" pitchFamily="34" charset="-120"/>
              </a:rPr>
              <a:t>recommendation + evidence</a:t>
            </a:r>
            <a:endParaRPr lang="en-US" sz="1050" dirty="0"/>
          </a:p>
        </p:txBody>
      </p:sp>
      <p:sp>
        <p:nvSpPr>
          <p:cNvPr id="32" name="Text 30"/>
          <p:cNvSpPr txBox="1"/>
          <p:nvPr/>
        </p:nvSpPr>
        <p:spPr>
          <a:xfrm>
            <a:off x="6766560" y="3803904"/>
            <a:ext cx="1371600" cy="365760"/>
          </a:xfrm>
          <a:prstGeom prst="rect">
            <a:avLst/>
          </a:prstGeom>
          <a:noFill/>
          <a:ln/>
        </p:spPr>
        <p:txBody>
          <a:bodyPr wrap="square" lIns="0" tIns="0" rIns="0" bIns="0" rtlCol="0" anchor="t"/>
          <a:lstStyle/>
          <a:p>
            <a:pPr algn="ctr" indent="0" marL="0">
              <a:buNone/>
            </a:pPr>
            <a:r>
              <a:rPr lang="en-US" sz="1050" i="1" dirty="0">
                <a:solidFill>
                  <a:srgbClr val="595959"/>
                </a:solidFill>
                <a:latin typeface="Calibri" pitchFamily="34" charset="0"/>
                <a:ea typeface="Calibri" pitchFamily="34" charset="-122"/>
                <a:cs typeface="Calibri" pitchFamily="34" charset="-120"/>
              </a:rPr>
              <a:t>issue + task + assignee</a:t>
            </a:r>
            <a:endParaRPr lang="en-US" sz="1050" dirty="0"/>
          </a:p>
        </p:txBody>
      </p:sp>
      <p:sp>
        <p:nvSpPr>
          <p:cNvPr id="33" name="Text 31"/>
          <p:cNvSpPr txBox="1"/>
          <p:nvPr/>
        </p:nvSpPr>
        <p:spPr>
          <a:xfrm>
            <a:off x="8321040" y="3803904"/>
            <a:ext cx="1371600" cy="365760"/>
          </a:xfrm>
          <a:prstGeom prst="rect">
            <a:avLst/>
          </a:prstGeom>
          <a:noFill/>
          <a:ln/>
        </p:spPr>
        <p:txBody>
          <a:bodyPr wrap="square" lIns="0" tIns="0" rIns="0" bIns="0" rtlCol="0" anchor="t"/>
          <a:lstStyle/>
          <a:p>
            <a:pPr algn="ctr" indent="0" marL="0">
              <a:buNone/>
            </a:pPr>
            <a:r>
              <a:rPr lang="en-US" sz="1050" i="1" dirty="0">
                <a:solidFill>
                  <a:srgbClr val="595959"/>
                </a:solidFill>
                <a:latin typeface="Calibri" pitchFamily="34" charset="0"/>
                <a:ea typeface="Calibri" pitchFamily="34" charset="-122"/>
                <a:cs typeface="Calibri" pitchFamily="34" charset="-120"/>
              </a:rPr>
              <a:t>task result + notes</a:t>
            </a:r>
            <a:endParaRPr lang="en-US" sz="1050" dirty="0"/>
          </a:p>
        </p:txBody>
      </p:sp>
      <p:sp>
        <p:nvSpPr>
          <p:cNvPr id="34" name="Text 32"/>
          <p:cNvSpPr txBox="1"/>
          <p:nvPr/>
        </p:nvSpPr>
        <p:spPr>
          <a:xfrm>
            <a:off x="9875520" y="3803904"/>
            <a:ext cx="1371600" cy="365760"/>
          </a:xfrm>
          <a:prstGeom prst="rect">
            <a:avLst/>
          </a:prstGeom>
          <a:noFill/>
          <a:ln/>
        </p:spPr>
        <p:txBody>
          <a:bodyPr wrap="square" lIns="0" tIns="0" rIns="0" bIns="0" rtlCol="0" anchor="t"/>
          <a:lstStyle/>
          <a:p>
            <a:pPr algn="ctr" indent="0" marL="0">
              <a:buNone/>
            </a:pPr>
            <a:r>
              <a:rPr lang="en-US" sz="1050" i="1" dirty="0">
                <a:solidFill>
                  <a:srgbClr val="595959"/>
                </a:solidFill>
                <a:latin typeface="Calibri" pitchFamily="34" charset="0"/>
                <a:ea typeface="Calibri" pitchFamily="34" charset="-122"/>
                <a:cs typeface="Calibri" pitchFamily="34" charset="-120"/>
              </a:rPr>
              <a:t>health record + history</a:t>
            </a:r>
            <a:endParaRPr lang="en-US" sz="1050" dirty="0"/>
          </a:p>
        </p:txBody>
      </p:sp>
      <p:sp>
        <p:nvSpPr>
          <p:cNvPr id="35" name="Text 33"/>
          <p:cNvSpPr txBox="1"/>
          <p:nvPr/>
        </p:nvSpPr>
        <p:spPr>
          <a:xfrm>
            <a:off x="594360" y="4389120"/>
            <a:ext cx="7315200" cy="274320"/>
          </a:xfrm>
          <a:prstGeom prst="rect">
            <a:avLst/>
          </a:prstGeom>
          <a:noFill/>
          <a:ln/>
        </p:spPr>
        <p:txBody>
          <a:bodyPr wrap="square" lIns="0" tIns="0" rIns="0" bIns="0" rtlCol="0" anchor="t"/>
          <a:lstStyle/>
          <a:p>
            <a:pPr algn="l" indent="0" marL="0">
              <a:buNone/>
            </a:pPr>
            <a:r>
              <a:rPr lang="en-US" sz="1300" b="1" dirty="0">
                <a:solidFill>
                  <a:srgbClr val="000000"/>
                </a:solidFill>
                <a:latin typeface="Calibri" pitchFamily="34" charset="0"/>
                <a:ea typeface="Calibri" pitchFamily="34" charset="-122"/>
                <a:cs typeface="Calibri" pitchFamily="34" charset="-120"/>
              </a:rPr>
              <a:t>Same loop, two modes: asset → lifecycle → issue → task → outcome</a:t>
            </a:r>
            <a:endParaRPr lang="en-US" sz="1300" dirty="0"/>
          </a:p>
        </p:txBody>
      </p:sp>
      <p:sp>
        <p:nvSpPr>
          <p:cNvPr id="36" name="Text 34"/>
          <p:cNvSpPr txBox="1"/>
          <p:nvPr/>
        </p:nvSpPr>
        <p:spPr>
          <a:xfrm>
            <a:off x="7635240" y="4434840"/>
            <a:ext cx="292608" cy="18288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37" name="Text 35"/>
          <p:cNvSpPr txBox="1"/>
          <p:nvPr/>
        </p:nvSpPr>
        <p:spPr>
          <a:xfrm>
            <a:off x="8001000" y="4425696"/>
            <a:ext cx="1463040" cy="201168"/>
          </a:xfrm>
          <a:prstGeom prst="rect">
            <a:avLst/>
          </a:prstGeom>
          <a:noFill/>
          <a:ln/>
        </p:spPr>
        <p:txBody>
          <a:bodyPr wrap="square" lIns="0" tIns="0" rIns="0" bIns="0" rtlCol="0" anchor="ctr"/>
          <a:lstStyle/>
          <a:p>
            <a:pPr algn="l" indent="0" marL="0">
              <a:buNone/>
            </a:pPr>
            <a:r>
              <a:rPr lang="en-US" sz="1100" dirty="0">
                <a:solidFill>
                  <a:srgbClr val="202124"/>
                </a:solidFill>
                <a:latin typeface="Calibri" pitchFamily="34" charset="0"/>
                <a:ea typeface="Calibri" pitchFamily="34" charset="-122"/>
                <a:cs typeface="Calibri" pitchFamily="34" charset="-120"/>
              </a:rPr>
              <a:t>MVP (being built)</a:t>
            </a:r>
            <a:endParaRPr lang="en-US" sz="1100" dirty="0"/>
          </a:p>
        </p:txBody>
      </p:sp>
      <p:sp>
        <p:nvSpPr>
          <p:cNvPr id="38" name="Text 36"/>
          <p:cNvSpPr txBox="1"/>
          <p:nvPr/>
        </p:nvSpPr>
        <p:spPr>
          <a:xfrm>
            <a:off x="9509760" y="4434840"/>
            <a:ext cx="292608" cy="18288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endParaRPr lang="en-US" sz="1100" dirty="0"/>
          </a:p>
        </p:txBody>
      </p:sp>
      <p:sp>
        <p:nvSpPr>
          <p:cNvPr id="39" name="Text 37"/>
          <p:cNvSpPr txBox="1"/>
          <p:nvPr/>
        </p:nvSpPr>
        <p:spPr>
          <a:xfrm>
            <a:off x="9875520" y="4425696"/>
            <a:ext cx="1737360" cy="201168"/>
          </a:xfrm>
          <a:prstGeom prst="rect">
            <a:avLst/>
          </a:prstGeom>
          <a:noFill/>
          <a:ln/>
        </p:spPr>
        <p:txBody>
          <a:bodyPr wrap="square" lIns="0" tIns="0" rIns="0" bIns="0" rtlCol="0" anchor="ctr"/>
          <a:lstStyle/>
          <a:p>
            <a:pPr algn="l" indent="0" marL="0">
              <a:buNone/>
            </a:pPr>
            <a:r>
              <a:rPr lang="en-US" sz="1100" dirty="0">
                <a:solidFill>
                  <a:srgbClr val="202124"/>
                </a:solidFill>
                <a:latin typeface="Calibri" pitchFamily="34" charset="0"/>
                <a:ea typeface="Calibri" pitchFamily="34" charset="-122"/>
                <a:cs typeface="Calibri" pitchFamily="34" charset="-120"/>
              </a:rPr>
              <a:t>Planned (not in MVP)</a:t>
            </a:r>
            <a:endParaRPr lang="en-US" sz="1100" dirty="0"/>
          </a:p>
        </p:txBody>
      </p:sp>
      <p:sp>
        <p:nvSpPr>
          <p:cNvPr id="40" name="Text 38"/>
          <p:cNvSpPr txBox="1"/>
          <p:nvPr/>
        </p:nvSpPr>
        <p:spPr>
          <a:xfrm>
            <a:off x="594360" y="4800600"/>
            <a:ext cx="1097280" cy="566928"/>
          </a:xfrm>
          <a:prstGeom prst="rect">
            <a:avLst/>
          </a:prstGeom>
          <a:solidFill>
            <a:srgbClr val="F2F2F2"/>
          </a:solidFill>
          <a:ln w="12700">
            <a:solidFill>
              <a:srgbClr val="000000"/>
            </a:solidFill>
            <a:prstDash val="solid"/>
          </a:ln>
        </p:spPr>
        <p:txBody>
          <a:bodyPr wrap="square" lIns="50800" tIns="50800" rIns="50800" bIns="5080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Agricultural production</a:t>
            </a:r>
            <a:endParaRPr lang="en-US" sz="1100" dirty="0"/>
          </a:p>
        </p:txBody>
      </p:sp>
      <p:sp>
        <p:nvSpPr>
          <p:cNvPr id="41" name="Text 39"/>
          <p:cNvSpPr txBox="1"/>
          <p:nvPr/>
        </p:nvSpPr>
        <p:spPr>
          <a:xfrm>
            <a:off x="1783080"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Create farm</a:t>
            </a:r>
            <a:endParaRPr lang="en-US" sz="1000" dirty="0"/>
          </a:p>
        </p:txBody>
      </p:sp>
      <p:sp>
        <p:nvSpPr>
          <p:cNvPr id="42" name="Text 40"/>
          <p:cNvSpPr txBox="1"/>
          <p:nvPr/>
        </p:nvSpPr>
        <p:spPr>
          <a:xfrm>
            <a:off x="2684180"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Define fields</a:t>
            </a:r>
            <a:endParaRPr lang="en-US" sz="1000" dirty="0"/>
          </a:p>
        </p:txBody>
      </p:sp>
      <p:sp>
        <p:nvSpPr>
          <p:cNvPr id="43" name="Text 41"/>
          <p:cNvSpPr txBox="1"/>
          <p:nvPr/>
        </p:nvSpPr>
        <p:spPr>
          <a:xfrm>
            <a:off x="3585279"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Create batch</a:t>
            </a:r>
            <a:endParaRPr lang="en-US" sz="1000" dirty="0"/>
          </a:p>
        </p:txBody>
      </p:sp>
      <p:sp>
        <p:nvSpPr>
          <p:cNvPr id="44" name="Text 42"/>
          <p:cNvSpPr txBox="1"/>
          <p:nvPr/>
        </p:nvSpPr>
        <p:spPr>
          <a:xfrm>
            <a:off x="4486379"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Monitor health</a:t>
            </a:r>
            <a:endParaRPr lang="en-US" sz="1000" dirty="0"/>
          </a:p>
        </p:txBody>
      </p:sp>
      <p:sp>
        <p:nvSpPr>
          <p:cNvPr id="45" name="Text 43"/>
          <p:cNvSpPr txBox="1"/>
          <p:nvPr/>
        </p:nvSpPr>
        <p:spPr>
          <a:xfrm>
            <a:off x="5387479"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Observe</a:t>
            </a:r>
            <a:endParaRPr lang="en-US" sz="1000" dirty="0"/>
          </a:p>
        </p:txBody>
      </p:sp>
      <p:sp>
        <p:nvSpPr>
          <p:cNvPr id="46" name="Text 44"/>
          <p:cNvSpPr txBox="1"/>
          <p:nvPr/>
        </p:nvSpPr>
        <p:spPr>
          <a:xfrm>
            <a:off x="6288578"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Issue → task</a:t>
            </a:r>
            <a:endParaRPr lang="en-US" sz="1000" dirty="0"/>
          </a:p>
        </p:txBody>
      </p:sp>
      <p:sp>
        <p:nvSpPr>
          <p:cNvPr id="47" name="Text 45"/>
          <p:cNvSpPr txBox="1"/>
          <p:nvPr/>
        </p:nvSpPr>
        <p:spPr>
          <a:xfrm>
            <a:off x="7189678"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Field action</a:t>
            </a:r>
            <a:endParaRPr lang="en-US" sz="1000" dirty="0"/>
          </a:p>
        </p:txBody>
      </p:sp>
      <p:sp>
        <p:nvSpPr>
          <p:cNvPr id="48" name="Text 46"/>
          <p:cNvSpPr txBox="1"/>
          <p:nvPr/>
        </p:nvSpPr>
        <p:spPr>
          <a:xfrm>
            <a:off x="8090777"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Recheck</a:t>
            </a:r>
            <a:endParaRPr lang="en-US" sz="1000" dirty="0"/>
          </a:p>
        </p:txBody>
      </p:sp>
      <p:sp>
        <p:nvSpPr>
          <p:cNvPr id="49" name="Text 47"/>
          <p:cNvSpPr txBox="1"/>
          <p:nvPr/>
        </p:nvSpPr>
        <p:spPr>
          <a:xfrm>
            <a:off x="8991877" y="4800600"/>
            <a:ext cx="81880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Harvest</a:t>
            </a:r>
            <a:endParaRPr lang="en-US" sz="1000" dirty="0"/>
          </a:p>
        </p:txBody>
      </p:sp>
      <p:sp>
        <p:nvSpPr>
          <p:cNvPr id="50" name="Text 48"/>
          <p:cNvSpPr txBox="1"/>
          <p:nvPr/>
        </p:nvSpPr>
        <p:spPr>
          <a:xfrm>
            <a:off x="9892977" y="4800600"/>
            <a:ext cx="818804" cy="56692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Predict growth, yield, harvest</a:t>
            </a:r>
            <a:endParaRPr lang="en-US" sz="1000" dirty="0"/>
          </a:p>
        </p:txBody>
      </p:sp>
      <p:sp>
        <p:nvSpPr>
          <p:cNvPr id="51" name="Text 49"/>
          <p:cNvSpPr txBox="1"/>
          <p:nvPr/>
        </p:nvSpPr>
        <p:spPr>
          <a:xfrm>
            <a:off x="10794076" y="4800600"/>
            <a:ext cx="818804" cy="56692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Revenue and profit range</a:t>
            </a:r>
            <a:endParaRPr lang="en-US" sz="1000" dirty="0"/>
          </a:p>
        </p:txBody>
      </p:sp>
      <p:sp>
        <p:nvSpPr>
          <p:cNvPr id="52" name="Text 50"/>
          <p:cNvSpPr txBox="1"/>
          <p:nvPr/>
        </p:nvSpPr>
        <p:spPr>
          <a:xfrm>
            <a:off x="594360" y="5458968"/>
            <a:ext cx="1097280" cy="566928"/>
          </a:xfrm>
          <a:prstGeom prst="rect">
            <a:avLst/>
          </a:prstGeom>
          <a:solidFill>
            <a:srgbClr val="F2F2F2"/>
          </a:solidFill>
          <a:ln w="12700">
            <a:solidFill>
              <a:srgbClr val="000000"/>
            </a:solidFill>
            <a:prstDash val="solid"/>
          </a:ln>
        </p:spPr>
        <p:txBody>
          <a:bodyPr wrap="square" lIns="50800" tIns="50800" rIns="50800" bIns="5080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Green management</a:t>
            </a:r>
            <a:endParaRPr lang="en-US" sz="1100" dirty="0"/>
          </a:p>
        </p:txBody>
      </p:sp>
      <p:sp>
        <p:nvSpPr>
          <p:cNvPr id="53" name="Text 51"/>
          <p:cNvSpPr txBox="1"/>
          <p:nvPr/>
        </p:nvSpPr>
        <p:spPr>
          <a:xfrm>
            <a:off x="1783080"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Create green space</a:t>
            </a:r>
            <a:endParaRPr lang="en-US" sz="1000" dirty="0"/>
          </a:p>
        </p:txBody>
      </p:sp>
      <p:sp>
        <p:nvSpPr>
          <p:cNvPr id="54" name="Text 52"/>
          <p:cNvSpPr txBox="1"/>
          <p:nvPr/>
        </p:nvSpPr>
        <p:spPr>
          <a:xfrm>
            <a:off x="2774290"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Define zones</a:t>
            </a:r>
            <a:endParaRPr lang="en-US" sz="1000" dirty="0"/>
          </a:p>
        </p:txBody>
      </p:sp>
      <p:sp>
        <p:nvSpPr>
          <p:cNvPr id="55" name="Text 53"/>
          <p:cNvSpPr txBox="1"/>
          <p:nvPr/>
        </p:nvSpPr>
        <p:spPr>
          <a:xfrm>
            <a:off x="3765499"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Register trees</a:t>
            </a:r>
            <a:endParaRPr lang="en-US" sz="1000" dirty="0"/>
          </a:p>
        </p:txBody>
      </p:sp>
      <p:sp>
        <p:nvSpPr>
          <p:cNvPr id="56" name="Text 54"/>
          <p:cNvSpPr txBox="1"/>
          <p:nvPr/>
        </p:nvSpPr>
        <p:spPr>
          <a:xfrm>
            <a:off x="4756709"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Map</a:t>
            </a:r>
            <a:endParaRPr lang="en-US" sz="1000" dirty="0"/>
          </a:p>
        </p:txBody>
      </p:sp>
      <p:sp>
        <p:nvSpPr>
          <p:cNvPr id="57" name="Text 55"/>
          <p:cNvSpPr txBox="1"/>
          <p:nvPr/>
        </p:nvSpPr>
        <p:spPr>
          <a:xfrm>
            <a:off x="5747918"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Inspect</a:t>
            </a:r>
            <a:endParaRPr lang="en-US" sz="1000" dirty="0"/>
          </a:p>
        </p:txBody>
      </p:sp>
      <p:sp>
        <p:nvSpPr>
          <p:cNvPr id="58" name="Text 56"/>
          <p:cNvSpPr txBox="1"/>
          <p:nvPr/>
        </p:nvSpPr>
        <p:spPr>
          <a:xfrm>
            <a:off x="6739128"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Issue → task</a:t>
            </a:r>
            <a:endParaRPr lang="en-US" sz="1000" dirty="0"/>
          </a:p>
        </p:txBody>
      </p:sp>
      <p:sp>
        <p:nvSpPr>
          <p:cNvPr id="59" name="Text 57"/>
          <p:cNvSpPr txBox="1"/>
          <p:nvPr/>
        </p:nvSpPr>
        <p:spPr>
          <a:xfrm>
            <a:off x="7730338"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Intervene</a:t>
            </a:r>
            <a:endParaRPr lang="en-US" sz="1000" dirty="0"/>
          </a:p>
        </p:txBody>
      </p:sp>
      <p:sp>
        <p:nvSpPr>
          <p:cNvPr id="60" name="Text 58"/>
          <p:cNvSpPr txBox="1"/>
          <p:nvPr/>
        </p:nvSpPr>
        <p:spPr>
          <a:xfrm>
            <a:off x="8721547"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Monitor survival</a:t>
            </a:r>
            <a:endParaRPr lang="en-US" sz="1000" dirty="0"/>
          </a:p>
        </p:txBody>
      </p:sp>
      <p:sp>
        <p:nvSpPr>
          <p:cNvPr id="61" name="Text 59"/>
          <p:cNvSpPr txBox="1"/>
          <p:nvPr/>
        </p:nvSpPr>
        <p:spPr>
          <a:xfrm>
            <a:off x="9712757" y="5458968"/>
            <a:ext cx="908914" cy="56692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Canopy and coverage (if measured)</a:t>
            </a:r>
            <a:endParaRPr lang="en-US" sz="1000" dirty="0"/>
          </a:p>
        </p:txBody>
      </p:sp>
      <p:sp>
        <p:nvSpPr>
          <p:cNvPr id="62" name="Text 60"/>
          <p:cNvSpPr txBox="1"/>
          <p:nvPr/>
        </p:nvSpPr>
        <p:spPr>
          <a:xfrm>
            <a:off x="10703966" y="5458968"/>
            <a:ext cx="908914"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Impact report</a:t>
            </a:r>
            <a:endParaRPr lang="en-US" sz="1000" dirty="0"/>
          </a:p>
        </p:txBody>
      </p:sp>
      <p:sp>
        <p:nvSpPr>
          <p:cNvPr id="63" name="Text 61"/>
          <p:cNvSpPr txBox="1"/>
          <p:nvPr/>
        </p:nvSpPr>
        <p:spPr>
          <a:xfrm>
            <a:off x="1783080" y="6080760"/>
            <a:ext cx="9601200" cy="228600"/>
          </a:xfrm>
          <a:prstGeom prst="rect">
            <a:avLst/>
          </a:prstGeom>
          <a:noFill/>
          <a:ln/>
        </p:spPr>
        <p:txBody>
          <a:bodyPr wrap="square" lIns="0" tIns="0" rIns="0" bIns="0" rtlCol="0" anchor="t"/>
          <a:lstStyle/>
          <a:p>
            <a:pPr algn="l" indent="0" marL="0">
              <a:buNone/>
            </a:pPr>
            <a:r>
              <a:rPr lang="en-US" sz="1100" i="1" dirty="0">
                <a:solidFill>
                  <a:srgbClr val="595959"/>
                </a:solidFill>
                <a:latin typeface="Calibri" pitchFamily="34" charset="0"/>
                <a:ea typeface="Calibri" pitchFamily="34" charset="-122"/>
                <a:cs typeface="Calibri" pitchFamily="34" charset="-120"/>
              </a:rPr>
              <a:t>Crop selection is manual in the MVP; crop recommendation is planned (V3).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System Architecture &amp; Design Diagrams</a:t>
            </a:r>
            <a:endParaRPr lang="en-US" sz="2800" dirty="0"/>
          </a:p>
        </p:txBody>
      </p:sp>
      <p:sp>
        <p:nvSpPr>
          <p:cNvPr id="3" name="Text 1"/>
          <p:cNvSpPr txBox="1"/>
          <p:nvPr/>
        </p:nvSpPr>
        <p:spPr>
          <a:xfrm>
            <a:off x="594360" y="1051560"/>
            <a:ext cx="4572000" cy="256032"/>
          </a:xfrm>
          <a:prstGeom prst="rect">
            <a:avLst/>
          </a:prstGeom>
          <a:noFill/>
          <a:ln/>
        </p:spPr>
        <p:txBody>
          <a:bodyPr wrap="square" lIns="0" tIns="0" rIns="0" bIns="0" rtlCol="0" anchor="t"/>
          <a:lstStyle/>
          <a:p>
            <a:pPr algn="l" indent="0" marL="0">
              <a:buNone/>
            </a:pPr>
            <a:r>
              <a:rPr lang="en-US" sz="1400" b="1" dirty="0">
                <a:solidFill>
                  <a:srgbClr val="000000"/>
                </a:solidFill>
                <a:latin typeface="Calibri" pitchFamily="34" charset="0"/>
                <a:ea typeface="Calibri" pitchFamily="34" charset="-122"/>
                <a:cs typeface="Calibri" pitchFamily="34" charset="-120"/>
              </a:rPr>
              <a:t>Block diagram</a:t>
            </a:r>
            <a:endParaRPr lang="en-US" sz="1400" dirty="0"/>
          </a:p>
        </p:txBody>
      </p:sp>
      <p:sp>
        <p:nvSpPr>
          <p:cNvPr id="4" name="Text 2"/>
          <p:cNvSpPr txBox="1"/>
          <p:nvPr/>
        </p:nvSpPr>
        <p:spPr>
          <a:xfrm>
            <a:off x="594360" y="1371600"/>
            <a:ext cx="5394960" cy="50292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Browser / PWA: React + TypeScript (mode-aware UI, map, dashboards)</a:t>
            </a:r>
            <a:endParaRPr lang="en-US" sz="1150" dirty="0"/>
          </a:p>
        </p:txBody>
      </p:sp>
      <p:sp>
        <p:nvSpPr>
          <p:cNvPr id="5" name="Shape 3"/>
          <p:cNvSpPr/>
          <p:nvPr/>
        </p:nvSpPr>
        <p:spPr>
          <a:xfrm>
            <a:off x="3291840" y="1874520"/>
            <a:ext cx="0" cy="320040"/>
          </a:xfrm>
          <a:prstGeom prst="line">
            <a:avLst/>
          </a:prstGeom>
          <a:noFill/>
          <a:ln w="15875">
            <a:solidFill>
              <a:srgbClr val="000000"/>
            </a:solidFill>
            <a:prstDash val="solid"/>
            <a:tailEnd type="triangle"/>
          </a:ln>
        </p:spPr>
      </p:sp>
      <p:sp>
        <p:nvSpPr>
          <p:cNvPr id="6" name="Text 4"/>
          <p:cNvSpPr txBox="1"/>
          <p:nvPr/>
        </p:nvSpPr>
        <p:spPr>
          <a:xfrm>
            <a:off x="3383280" y="1938528"/>
            <a:ext cx="2377440" cy="228600"/>
          </a:xfrm>
          <a:prstGeom prst="rect">
            <a:avLst/>
          </a:prstGeom>
          <a:noFill/>
          <a:ln/>
        </p:spPr>
        <p:txBody>
          <a:bodyPr wrap="square" lIns="0" tIns="0" rIns="0" bIns="0" rtlCol="0" anchor="t"/>
          <a:lstStyle/>
          <a:p>
            <a:pPr algn="l" indent="0" marL="0">
              <a:buNone/>
            </a:pPr>
            <a:r>
              <a:rPr lang="en-US" sz="1000" i="1" dirty="0">
                <a:solidFill>
                  <a:srgbClr val="595959"/>
                </a:solidFill>
                <a:latin typeface="Calibri" pitchFamily="34" charset="0"/>
                <a:ea typeface="Calibri" pitchFamily="34" charset="-122"/>
                <a:cs typeface="Calibri" pitchFamily="34" charset="-120"/>
              </a:rPr>
              <a:t>HTTPS · REST/JSON · /api/v1</a:t>
            </a:r>
            <a:endParaRPr lang="en-US" sz="1000" dirty="0"/>
          </a:p>
        </p:txBody>
      </p:sp>
      <p:sp>
        <p:nvSpPr>
          <p:cNvPr id="7" name="Text 5"/>
          <p:cNvSpPr txBox="1"/>
          <p:nvPr/>
        </p:nvSpPr>
        <p:spPr>
          <a:xfrm>
            <a:off x="594360" y="2194560"/>
            <a:ext cx="5394960" cy="59436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API: FastAPI · auth + roles · workspace scoping · services (issues, tasks, observations)</a:t>
            </a:r>
            <a:endParaRPr lang="en-US" sz="1150" dirty="0"/>
          </a:p>
        </p:txBody>
      </p:sp>
      <p:sp>
        <p:nvSpPr>
          <p:cNvPr id="8" name="Shape 6"/>
          <p:cNvSpPr/>
          <p:nvPr/>
        </p:nvSpPr>
        <p:spPr>
          <a:xfrm>
            <a:off x="1440180" y="2788920"/>
            <a:ext cx="0" cy="320040"/>
          </a:xfrm>
          <a:prstGeom prst="line">
            <a:avLst/>
          </a:prstGeom>
          <a:noFill/>
          <a:ln w="15875">
            <a:solidFill>
              <a:srgbClr val="000000"/>
            </a:solidFill>
            <a:prstDash val="solid"/>
            <a:tailEnd type="triangle"/>
          </a:ln>
        </p:spPr>
      </p:sp>
      <p:sp>
        <p:nvSpPr>
          <p:cNvPr id="9" name="Text 7"/>
          <p:cNvSpPr txBox="1"/>
          <p:nvPr/>
        </p:nvSpPr>
        <p:spPr>
          <a:xfrm>
            <a:off x="594360" y="3108960"/>
            <a:ext cx="1691640" cy="68580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Worker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agent runs · jobs</a:t>
            </a:r>
            <a:endParaRPr lang="en-US" sz="1100" dirty="0"/>
          </a:p>
        </p:txBody>
      </p:sp>
      <p:sp>
        <p:nvSpPr>
          <p:cNvPr id="10" name="Shape 8"/>
          <p:cNvSpPr/>
          <p:nvPr/>
        </p:nvSpPr>
        <p:spPr>
          <a:xfrm>
            <a:off x="3291840" y="2788920"/>
            <a:ext cx="0" cy="320040"/>
          </a:xfrm>
          <a:prstGeom prst="line">
            <a:avLst/>
          </a:prstGeom>
          <a:noFill/>
          <a:ln w="15875">
            <a:solidFill>
              <a:srgbClr val="000000"/>
            </a:solidFill>
            <a:prstDash val="solid"/>
            <a:tailEnd type="triangle"/>
          </a:ln>
        </p:spPr>
      </p:sp>
      <p:sp>
        <p:nvSpPr>
          <p:cNvPr id="11" name="Text 9"/>
          <p:cNvSpPr txBox="1"/>
          <p:nvPr/>
        </p:nvSpPr>
        <p:spPr>
          <a:xfrm>
            <a:off x="2446020" y="3108960"/>
            <a:ext cx="1691640" cy="68580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PostgreSQL + PostGIS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assets · history · state</a:t>
            </a:r>
            <a:endParaRPr lang="en-US" sz="1100" dirty="0"/>
          </a:p>
        </p:txBody>
      </p:sp>
      <p:sp>
        <p:nvSpPr>
          <p:cNvPr id="12" name="Shape 10"/>
          <p:cNvSpPr/>
          <p:nvPr/>
        </p:nvSpPr>
        <p:spPr>
          <a:xfrm>
            <a:off x="5143500" y="2788920"/>
            <a:ext cx="0" cy="320040"/>
          </a:xfrm>
          <a:prstGeom prst="line">
            <a:avLst/>
          </a:prstGeom>
          <a:noFill/>
          <a:ln w="15875">
            <a:solidFill>
              <a:srgbClr val="000000"/>
            </a:solidFill>
            <a:prstDash val="solid"/>
            <a:tailEnd type="triangle"/>
          </a:ln>
        </p:spPr>
      </p:sp>
      <p:sp>
        <p:nvSpPr>
          <p:cNvPr id="13" name="Text 11"/>
          <p:cNvSpPr txBox="1"/>
          <p:nvPr/>
        </p:nvSpPr>
        <p:spPr>
          <a:xfrm>
            <a:off x="4297680" y="3108960"/>
            <a:ext cx="1691640" cy="68580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Object storage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photos · reports</a:t>
            </a:r>
            <a:endParaRPr lang="en-US" sz="1100" dirty="0"/>
          </a:p>
        </p:txBody>
      </p:sp>
      <p:sp>
        <p:nvSpPr>
          <p:cNvPr id="14" name="Text 12"/>
          <p:cNvSpPr txBox="1"/>
          <p:nvPr/>
        </p:nvSpPr>
        <p:spPr>
          <a:xfrm>
            <a:off x="594360" y="3931920"/>
            <a:ext cx="4572000" cy="228600"/>
          </a:xfrm>
          <a:prstGeom prst="rect">
            <a:avLst/>
          </a:prstGeom>
          <a:noFill/>
          <a:ln/>
        </p:spPr>
        <p:txBody>
          <a:bodyPr wrap="square" lIns="0" tIns="0" rIns="0" bIns="0" rtlCol="0" anchor="t"/>
          <a:lstStyle/>
          <a:p>
            <a:pPr algn="l" indent="0" marL="0">
              <a:buNone/>
            </a:pPr>
            <a:r>
              <a:rPr lang="en-US" sz="1100" b="1" dirty="0">
                <a:solidFill>
                  <a:srgbClr val="202124"/>
                </a:solidFill>
                <a:latin typeface="Calibri" pitchFamily="34" charset="0"/>
                <a:ea typeface="Calibri" pitchFamily="34" charset="-122"/>
                <a:cs typeface="Calibri" pitchFamily="34" charset="-120"/>
              </a:rPr>
              <a:t>Providers and models</a:t>
            </a:r>
            <a:endParaRPr lang="en-US" sz="1100" dirty="0"/>
          </a:p>
        </p:txBody>
      </p:sp>
      <p:sp>
        <p:nvSpPr>
          <p:cNvPr id="15" name="Text 13"/>
          <p:cNvSpPr txBox="1"/>
          <p:nvPr/>
        </p:nvSpPr>
        <p:spPr>
          <a:xfrm>
            <a:off x="594360" y="4187952"/>
            <a:ext cx="1691640" cy="56692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000000"/>
                </a:solidFill>
                <a:latin typeface="Calibri" pitchFamily="34" charset="0"/>
                <a:ea typeface="Calibri" pitchFamily="34" charset="-122"/>
                <a:cs typeface="Calibri" pitchFamily="34" charset="-120"/>
              </a:rPr>
              <a:t>Weather provider</a:t>
            </a:r>
            <a:endParaRPr lang="en-US" sz="1100" dirty="0"/>
          </a:p>
        </p:txBody>
      </p:sp>
      <p:sp>
        <p:nvSpPr>
          <p:cNvPr id="16" name="Text 14"/>
          <p:cNvSpPr txBox="1"/>
          <p:nvPr/>
        </p:nvSpPr>
        <p:spPr>
          <a:xfrm>
            <a:off x="2446020" y="4187952"/>
            <a:ext cx="1691640" cy="56692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100" dirty="0">
                <a:solidFill>
                  <a:srgbClr val="000000"/>
                </a:solidFill>
                <a:latin typeface="Calibri" pitchFamily="34" charset="0"/>
                <a:ea typeface="Calibri" pitchFamily="34" charset="-122"/>
                <a:cs typeface="Calibri" pitchFamily="34" charset="-120"/>
              </a:rPr>
              <a:t>ML / CV inference (V2)</a:t>
            </a:r>
            <a:endParaRPr lang="en-US" sz="1100" dirty="0"/>
          </a:p>
        </p:txBody>
      </p:sp>
      <p:sp>
        <p:nvSpPr>
          <p:cNvPr id="17" name="Text 15"/>
          <p:cNvSpPr txBox="1"/>
          <p:nvPr/>
        </p:nvSpPr>
        <p:spPr>
          <a:xfrm>
            <a:off x="4297680" y="4187952"/>
            <a:ext cx="1691640" cy="56692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100" dirty="0">
                <a:solidFill>
                  <a:srgbClr val="000000"/>
                </a:solidFill>
                <a:latin typeface="Calibri" pitchFamily="34" charset="0"/>
                <a:ea typeface="Calibri" pitchFamily="34" charset="-122"/>
                <a:cs typeface="Calibri" pitchFamily="34" charset="-120"/>
              </a:rPr>
              <a:t>LLM layer (later)</a:t>
            </a:r>
            <a:endParaRPr lang="en-US" sz="1100" dirty="0"/>
          </a:p>
        </p:txBody>
      </p:sp>
      <p:sp>
        <p:nvSpPr>
          <p:cNvPr id="18" name="Text 16"/>
          <p:cNvSpPr txBox="1"/>
          <p:nvPr/>
        </p:nvSpPr>
        <p:spPr>
          <a:xfrm>
            <a:off x="594360" y="4892040"/>
            <a:ext cx="5394960" cy="594360"/>
          </a:xfrm>
          <a:prstGeom prst="rect">
            <a:avLst/>
          </a:prstGeom>
          <a:noFill/>
          <a:ln/>
        </p:spPr>
        <p:txBody>
          <a:bodyPr wrap="square" lIns="0" tIns="0" rIns="0" bIns="0" rtlCol="0" anchor="t"/>
          <a:lstStyle/>
          <a:p>
            <a:pPr algn="l" indent="0" marL="0">
              <a:buNone/>
            </a:pPr>
            <a:r>
              <a:rPr lang="en-US" sz="1150" i="1" dirty="0">
                <a:solidFill>
                  <a:srgbClr val="202124"/>
                </a:solidFill>
                <a:latin typeface="Calibri" pitchFamily="34" charset="0"/>
                <a:ea typeface="Calibri" pitchFamily="34" charset="-122"/>
                <a:cs typeface="Calibri" pitchFamily="34" charset="-120"/>
              </a:rPr>
              <a:t>Modular monolith: one codebase, two processes (API, worker). Rules run in the worker and only write recommendations; a person accepts them.</a:t>
            </a:r>
            <a:endParaRPr lang="en-US" sz="1150" dirty="0"/>
          </a:p>
        </p:txBody>
      </p:sp>
      <p:sp>
        <p:nvSpPr>
          <p:cNvPr id="19" name="Text 17"/>
          <p:cNvSpPr txBox="1"/>
          <p:nvPr/>
        </p:nvSpPr>
        <p:spPr>
          <a:xfrm>
            <a:off x="6400800" y="1051560"/>
            <a:ext cx="5212080" cy="256032"/>
          </a:xfrm>
          <a:prstGeom prst="rect">
            <a:avLst/>
          </a:prstGeom>
          <a:noFill/>
          <a:ln/>
        </p:spPr>
        <p:txBody>
          <a:bodyPr wrap="square" lIns="0" tIns="0" rIns="0" bIns="0" rtlCol="0" anchor="t"/>
          <a:lstStyle/>
          <a:p>
            <a:pPr algn="l" indent="0" marL="0">
              <a:buNone/>
            </a:pPr>
            <a:r>
              <a:rPr lang="en-US" sz="1400" b="1" dirty="0">
                <a:solidFill>
                  <a:srgbClr val="000000"/>
                </a:solidFill>
                <a:latin typeface="Calibri" pitchFamily="34" charset="0"/>
                <a:ea typeface="Calibri" pitchFamily="34" charset="-122"/>
                <a:cs typeface="Calibri" pitchFamily="34" charset="-120"/>
              </a:rPr>
              <a:t>Biological asset graph (core entities)</a:t>
            </a:r>
            <a:endParaRPr lang="en-US" sz="1400" dirty="0"/>
          </a:p>
        </p:txBody>
      </p:sp>
      <p:sp>
        <p:nvSpPr>
          <p:cNvPr id="20" name="Text 18"/>
          <p:cNvSpPr txBox="1"/>
          <p:nvPr/>
        </p:nvSpPr>
        <p:spPr>
          <a:xfrm>
            <a:off x="6400800" y="137160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Workspace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(mode)</a:t>
            </a:r>
            <a:endParaRPr lang="en-US" sz="1100" dirty="0"/>
          </a:p>
        </p:txBody>
      </p:sp>
      <p:sp>
        <p:nvSpPr>
          <p:cNvPr id="21" name="Text 19"/>
          <p:cNvSpPr txBox="1"/>
          <p:nvPr/>
        </p:nvSpPr>
        <p:spPr>
          <a:xfrm>
            <a:off x="8183880" y="137160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Project</a:t>
            </a:r>
            <a:endParaRPr lang="en-US" sz="1100" dirty="0"/>
          </a:p>
        </p:txBody>
      </p:sp>
      <p:sp>
        <p:nvSpPr>
          <p:cNvPr id="22" name="Text 20"/>
          <p:cNvSpPr txBox="1"/>
          <p:nvPr/>
        </p:nvSpPr>
        <p:spPr>
          <a:xfrm>
            <a:off x="9966960" y="137160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Location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(field · zone)</a:t>
            </a:r>
            <a:endParaRPr lang="en-US" sz="1100" dirty="0"/>
          </a:p>
        </p:txBody>
      </p:sp>
      <p:sp>
        <p:nvSpPr>
          <p:cNvPr id="23" name="Text 21"/>
          <p:cNvSpPr txBox="1"/>
          <p:nvPr/>
        </p:nvSpPr>
        <p:spPr>
          <a:xfrm>
            <a:off x="8183880" y="233172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Species / crop</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catalog</a:t>
            </a:r>
            <a:endParaRPr lang="en-US" sz="1100" dirty="0"/>
          </a:p>
        </p:txBody>
      </p:sp>
      <p:sp>
        <p:nvSpPr>
          <p:cNvPr id="24" name="Text 22"/>
          <p:cNvSpPr txBox="1"/>
          <p:nvPr/>
        </p:nvSpPr>
        <p:spPr>
          <a:xfrm>
            <a:off x="9966960" y="233172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Biological asset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(tree · plant · batch)</a:t>
            </a:r>
            <a:endParaRPr lang="en-US" sz="1100" dirty="0"/>
          </a:p>
        </p:txBody>
      </p:sp>
      <p:sp>
        <p:nvSpPr>
          <p:cNvPr id="25" name="Text 23"/>
          <p:cNvSpPr txBox="1"/>
          <p:nvPr/>
        </p:nvSpPr>
        <p:spPr>
          <a:xfrm>
            <a:off x="6400800" y="329184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Photos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(attachments)</a:t>
            </a:r>
            <a:endParaRPr lang="en-US" sz="1100" dirty="0"/>
          </a:p>
        </p:txBody>
      </p:sp>
      <p:sp>
        <p:nvSpPr>
          <p:cNvPr id="26" name="Text 24"/>
          <p:cNvSpPr txBox="1"/>
          <p:nvPr/>
        </p:nvSpPr>
        <p:spPr>
          <a:xfrm>
            <a:off x="8183880" y="329184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Health + growth</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records</a:t>
            </a:r>
            <a:endParaRPr lang="en-US" sz="1100" dirty="0"/>
          </a:p>
        </p:txBody>
      </p:sp>
      <p:sp>
        <p:nvSpPr>
          <p:cNvPr id="27" name="Text 25"/>
          <p:cNvSpPr txBox="1"/>
          <p:nvPr/>
        </p:nvSpPr>
        <p:spPr>
          <a:xfrm>
            <a:off x="9966960" y="329184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Observation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(append-only)</a:t>
            </a:r>
            <a:endParaRPr lang="en-US" sz="1100" dirty="0"/>
          </a:p>
        </p:txBody>
      </p:sp>
      <p:sp>
        <p:nvSpPr>
          <p:cNvPr id="28" name="Text 26"/>
          <p:cNvSpPr txBox="1"/>
          <p:nvPr/>
        </p:nvSpPr>
        <p:spPr>
          <a:xfrm>
            <a:off x="8183880" y="425196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Recommendation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(rules agent)</a:t>
            </a:r>
            <a:endParaRPr lang="en-US" sz="1100" dirty="0"/>
          </a:p>
        </p:txBody>
      </p:sp>
      <p:sp>
        <p:nvSpPr>
          <p:cNvPr id="29" name="Text 27"/>
          <p:cNvSpPr txBox="1"/>
          <p:nvPr/>
        </p:nvSpPr>
        <p:spPr>
          <a:xfrm>
            <a:off x="9966960" y="425196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Botanical issue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 status history)</a:t>
            </a:r>
            <a:endParaRPr lang="en-US" sz="1100" dirty="0"/>
          </a:p>
        </p:txBody>
      </p:sp>
      <p:sp>
        <p:nvSpPr>
          <p:cNvPr id="30" name="Text 28"/>
          <p:cNvSpPr txBox="1"/>
          <p:nvPr/>
        </p:nvSpPr>
        <p:spPr>
          <a:xfrm>
            <a:off x="8183880" y="521208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Treatment · harvest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records</a:t>
            </a:r>
            <a:endParaRPr lang="en-US" sz="1100" dirty="0"/>
          </a:p>
        </p:txBody>
      </p:sp>
      <p:sp>
        <p:nvSpPr>
          <p:cNvPr id="31" name="Text 29"/>
          <p:cNvSpPr txBox="1"/>
          <p:nvPr/>
        </p:nvSpPr>
        <p:spPr>
          <a:xfrm>
            <a:off x="9966960" y="5212080"/>
            <a:ext cx="1645920" cy="56692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Task</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 status history)</a:t>
            </a:r>
            <a:endParaRPr lang="en-US" sz="1100" dirty="0"/>
          </a:p>
        </p:txBody>
      </p:sp>
      <p:sp>
        <p:nvSpPr>
          <p:cNvPr id="32" name="Text 30"/>
          <p:cNvSpPr txBox="1"/>
          <p:nvPr/>
        </p:nvSpPr>
        <p:spPr>
          <a:xfrm>
            <a:off x="6400800" y="5212080"/>
            <a:ext cx="1645920" cy="566928"/>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100" dirty="0">
                <a:solidFill>
                  <a:srgbClr val="000000"/>
                </a:solidFill>
                <a:latin typeface="Calibri" pitchFamily="34" charset="0"/>
                <a:ea typeface="Calibri" pitchFamily="34" charset="-122"/>
                <a:cs typeface="Calibri" pitchFamily="34" charset="-120"/>
              </a:rPr>
              <a:t>Prediction</a:t>
            </a:r>
            <a:endParaRPr lang="en-US" sz="1100" dirty="0"/>
          </a:p>
          <a:p>
            <a:pPr algn="ctr" indent="0" marL="0">
              <a:buNone/>
            </a:pPr>
            <a:r>
              <a:rPr lang="en-US" sz="1100" dirty="0">
                <a:solidFill>
                  <a:srgbClr val="000000"/>
                </a:solidFill>
                <a:latin typeface="Calibri" pitchFamily="34" charset="0"/>
                <a:ea typeface="Calibri" pitchFamily="34" charset="-122"/>
                <a:cs typeface="Calibri" pitchFamily="34" charset="-120"/>
              </a:rPr>
              <a:t>(reserved, V2)</a:t>
            </a:r>
            <a:endParaRPr lang="en-US" sz="1100" dirty="0"/>
          </a:p>
        </p:txBody>
      </p:sp>
      <p:sp>
        <p:nvSpPr>
          <p:cNvPr id="33" name="Shape 31"/>
          <p:cNvSpPr/>
          <p:nvPr/>
        </p:nvSpPr>
        <p:spPr>
          <a:xfrm>
            <a:off x="8046720" y="1655064"/>
            <a:ext cx="137160" cy="0"/>
          </a:xfrm>
          <a:prstGeom prst="line">
            <a:avLst/>
          </a:prstGeom>
          <a:noFill/>
          <a:ln w="15875">
            <a:solidFill>
              <a:srgbClr val="000000"/>
            </a:solidFill>
            <a:prstDash val="solid"/>
            <a:tailEnd type="triangle"/>
          </a:ln>
        </p:spPr>
      </p:sp>
      <p:sp>
        <p:nvSpPr>
          <p:cNvPr id="34" name="Shape 32"/>
          <p:cNvSpPr/>
          <p:nvPr/>
        </p:nvSpPr>
        <p:spPr>
          <a:xfrm>
            <a:off x="9829800" y="1655064"/>
            <a:ext cx="137160" cy="0"/>
          </a:xfrm>
          <a:prstGeom prst="line">
            <a:avLst/>
          </a:prstGeom>
          <a:noFill/>
          <a:ln w="15875">
            <a:solidFill>
              <a:srgbClr val="000000"/>
            </a:solidFill>
            <a:prstDash val="solid"/>
            <a:tailEnd type="triangle"/>
          </a:ln>
        </p:spPr>
      </p:sp>
      <p:sp>
        <p:nvSpPr>
          <p:cNvPr id="35" name="Shape 33"/>
          <p:cNvSpPr/>
          <p:nvPr/>
        </p:nvSpPr>
        <p:spPr>
          <a:xfrm>
            <a:off x="10789920" y="1938528"/>
            <a:ext cx="0" cy="393192"/>
          </a:xfrm>
          <a:prstGeom prst="line">
            <a:avLst/>
          </a:prstGeom>
          <a:noFill/>
          <a:ln w="15875">
            <a:solidFill>
              <a:srgbClr val="000000"/>
            </a:solidFill>
            <a:prstDash val="solid"/>
            <a:tailEnd type="triangle"/>
          </a:ln>
        </p:spPr>
      </p:sp>
      <p:sp>
        <p:nvSpPr>
          <p:cNvPr id="36" name="Shape 34"/>
          <p:cNvSpPr/>
          <p:nvPr/>
        </p:nvSpPr>
        <p:spPr>
          <a:xfrm>
            <a:off x="9829800" y="2615184"/>
            <a:ext cx="137160" cy="0"/>
          </a:xfrm>
          <a:prstGeom prst="line">
            <a:avLst/>
          </a:prstGeom>
          <a:noFill/>
          <a:ln w="15875">
            <a:solidFill>
              <a:srgbClr val="000000"/>
            </a:solidFill>
            <a:prstDash val="solid"/>
          </a:ln>
        </p:spPr>
      </p:sp>
      <p:sp>
        <p:nvSpPr>
          <p:cNvPr id="37" name="Shape 35"/>
          <p:cNvSpPr/>
          <p:nvPr/>
        </p:nvSpPr>
        <p:spPr>
          <a:xfrm flipH="1">
            <a:off x="9829800" y="2615184"/>
            <a:ext cx="137160" cy="0"/>
          </a:xfrm>
          <a:prstGeom prst="line">
            <a:avLst/>
          </a:prstGeom>
          <a:noFill/>
          <a:ln w="15875">
            <a:solidFill>
              <a:srgbClr val="000000"/>
            </a:solidFill>
            <a:prstDash val="solid"/>
            <a:tailEnd type="triangle"/>
          </a:ln>
        </p:spPr>
      </p:sp>
      <p:sp>
        <p:nvSpPr>
          <p:cNvPr id="38" name="Shape 36"/>
          <p:cNvSpPr/>
          <p:nvPr/>
        </p:nvSpPr>
        <p:spPr>
          <a:xfrm>
            <a:off x="10789920" y="2898648"/>
            <a:ext cx="0" cy="393192"/>
          </a:xfrm>
          <a:prstGeom prst="line">
            <a:avLst/>
          </a:prstGeom>
          <a:noFill/>
          <a:ln w="15875">
            <a:solidFill>
              <a:srgbClr val="000000"/>
            </a:solidFill>
            <a:prstDash val="solid"/>
            <a:tailEnd type="triangle"/>
          </a:ln>
        </p:spPr>
      </p:sp>
      <p:sp>
        <p:nvSpPr>
          <p:cNvPr id="39" name="Shape 37"/>
          <p:cNvSpPr/>
          <p:nvPr/>
        </p:nvSpPr>
        <p:spPr>
          <a:xfrm flipH="1">
            <a:off x="9829800" y="3575304"/>
            <a:ext cx="137160" cy="0"/>
          </a:xfrm>
          <a:prstGeom prst="line">
            <a:avLst/>
          </a:prstGeom>
          <a:noFill/>
          <a:ln w="15875">
            <a:solidFill>
              <a:srgbClr val="000000"/>
            </a:solidFill>
            <a:prstDash val="solid"/>
            <a:tailEnd type="triangle"/>
          </a:ln>
        </p:spPr>
      </p:sp>
      <p:sp>
        <p:nvSpPr>
          <p:cNvPr id="40" name="Shape 38"/>
          <p:cNvSpPr/>
          <p:nvPr/>
        </p:nvSpPr>
        <p:spPr>
          <a:xfrm flipH="1">
            <a:off x="8046720" y="3575304"/>
            <a:ext cx="137160" cy="0"/>
          </a:xfrm>
          <a:prstGeom prst="line">
            <a:avLst/>
          </a:prstGeom>
          <a:noFill/>
          <a:ln w="15875">
            <a:solidFill>
              <a:srgbClr val="000000"/>
            </a:solidFill>
            <a:prstDash val="solid"/>
            <a:tailEnd type="triangle"/>
          </a:ln>
        </p:spPr>
      </p:sp>
      <p:sp>
        <p:nvSpPr>
          <p:cNvPr id="41" name="Shape 39"/>
          <p:cNvSpPr/>
          <p:nvPr/>
        </p:nvSpPr>
        <p:spPr>
          <a:xfrm>
            <a:off x="10789920" y="3858768"/>
            <a:ext cx="0" cy="393192"/>
          </a:xfrm>
          <a:prstGeom prst="line">
            <a:avLst/>
          </a:prstGeom>
          <a:noFill/>
          <a:ln w="15875">
            <a:solidFill>
              <a:srgbClr val="000000"/>
            </a:solidFill>
            <a:prstDash val="solid"/>
            <a:tailEnd type="triangle"/>
          </a:ln>
        </p:spPr>
      </p:sp>
      <p:sp>
        <p:nvSpPr>
          <p:cNvPr id="42" name="Shape 40"/>
          <p:cNvSpPr/>
          <p:nvPr/>
        </p:nvSpPr>
        <p:spPr>
          <a:xfrm>
            <a:off x="9829800" y="4535424"/>
            <a:ext cx="137160" cy="0"/>
          </a:xfrm>
          <a:prstGeom prst="line">
            <a:avLst/>
          </a:prstGeom>
          <a:noFill/>
          <a:ln w="15875">
            <a:solidFill>
              <a:srgbClr val="000000"/>
            </a:solidFill>
            <a:prstDash val="solid"/>
            <a:tailEnd type="triangle"/>
          </a:ln>
        </p:spPr>
      </p:sp>
      <p:sp>
        <p:nvSpPr>
          <p:cNvPr id="43" name="Shape 41"/>
          <p:cNvSpPr/>
          <p:nvPr/>
        </p:nvSpPr>
        <p:spPr>
          <a:xfrm>
            <a:off x="10789920" y="4818888"/>
            <a:ext cx="0" cy="393192"/>
          </a:xfrm>
          <a:prstGeom prst="line">
            <a:avLst/>
          </a:prstGeom>
          <a:noFill/>
          <a:ln w="15875">
            <a:solidFill>
              <a:srgbClr val="000000"/>
            </a:solidFill>
            <a:prstDash val="solid"/>
            <a:tailEnd type="triangle"/>
          </a:ln>
        </p:spPr>
      </p:sp>
      <p:sp>
        <p:nvSpPr>
          <p:cNvPr id="44" name="Shape 42"/>
          <p:cNvSpPr/>
          <p:nvPr/>
        </p:nvSpPr>
        <p:spPr>
          <a:xfrm flipH="1">
            <a:off x="9829800" y="5495544"/>
            <a:ext cx="137160" cy="0"/>
          </a:xfrm>
          <a:prstGeom prst="line">
            <a:avLst/>
          </a:prstGeom>
          <a:noFill/>
          <a:ln w="15875">
            <a:solidFill>
              <a:srgbClr val="000000"/>
            </a:solidFill>
            <a:prstDash val="solid"/>
            <a:tailEnd type="triangle"/>
          </a:ln>
        </p:spPr>
      </p:sp>
      <p:sp>
        <p:nvSpPr>
          <p:cNvPr id="45" name="Text 43"/>
          <p:cNvSpPr txBox="1"/>
          <p:nvPr/>
        </p:nvSpPr>
        <p:spPr>
          <a:xfrm>
            <a:off x="10863072" y="3931920"/>
            <a:ext cx="822960" cy="201168"/>
          </a:xfrm>
          <a:prstGeom prst="rect">
            <a:avLst/>
          </a:prstGeom>
          <a:noFill/>
          <a:ln/>
        </p:spPr>
        <p:txBody>
          <a:bodyPr wrap="square" lIns="0" tIns="0" rIns="0" bIns="0" rtlCol="0" anchor="t"/>
          <a:lstStyle/>
          <a:p>
            <a:pPr algn="l" indent="0" marL="0">
              <a:buNone/>
            </a:pPr>
            <a:r>
              <a:rPr lang="en-US" sz="1000" i="1" dirty="0">
                <a:solidFill>
                  <a:srgbClr val="595959"/>
                </a:solidFill>
                <a:latin typeface="Calibri" pitchFamily="34" charset="0"/>
                <a:ea typeface="Calibri" pitchFamily="34" charset="-122"/>
                <a:cs typeface="Calibri" pitchFamily="34" charset="-120"/>
              </a:rPr>
              <a:t>evidence</a:t>
            </a:r>
            <a:endParaRPr lang="en-US" sz="1000" dirty="0"/>
          </a:p>
        </p:txBody>
      </p:sp>
      <p:sp>
        <p:nvSpPr>
          <p:cNvPr id="46" name="Text 44"/>
          <p:cNvSpPr txBox="1"/>
          <p:nvPr/>
        </p:nvSpPr>
        <p:spPr>
          <a:xfrm>
            <a:off x="10863072" y="4892040"/>
            <a:ext cx="822960" cy="201168"/>
          </a:xfrm>
          <a:prstGeom prst="rect">
            <a:avLst/>
          </a:prstGeom>
          <a:noFill/>
          <a:ln/>
        </p:spPr>
        <p:txBody>
          <a:bodyPr wrap="square" lIns="0" tIns="0" rIns="0" bIns="0" rtlCol="0" anchor="t"/>
          <a:lstStyle/>
          <a:p>
            <a:pPr algn="l" indent="0" marL="0">
              <a:buNone/>
            </a:pPr>
            <a:r>
              <a:rPr lang="en-US" sz="1000" i="1" dirty="0">
                <a:solidFill>
                  <a:srgbClr val="595959"/>
                </a:solidFill>
                <a:latin typeface="Calibri" pitchFamily="34" charset="0"/>
                <a:ea typeface="Calibri" pitchFamily="34" charset="-122"/>
                <a:cs typeface="Calibri" pitchFamily="34" charset="-120"/>
              </a:rPr>
              <a:t>tasks</a:t>
            </a:r>
            <a:endParaRPr lang="en-US" sz="1000" dirty="0"/>
          </a:p>
        </p:txBody>
      </p:sp>
      <p:sp>
        <p:nvSpPr>
          <p:cNvPr id="47" name="Text 45"/>
          <p:cNvSpPr txBox="1"/>
          <p:nvPr/>
        </p:nvSpPr>
        <p:spPr>
          <a:xfrm>
            <a:off x="594360" y="5943600"/>
            <a:ext cx="3611880" cy="566928"/>
          </a:xfrm>
          <a:prstGeom prst="rect">
            <a:avLst/>
          </a:prstGeom>
          <a:solidFill>
            <a:srgbClr val="F2F2F2"/>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8" name="Text 46"/>
          <p:cNvSpPr txBox="1"/>
          <p:nvPr/>
        </p:nvSpPr>
        <p:spPr>
          <a:xfrm>
            <a:off x="685800" y="5989320"/>
            <a:ext cx="3429000" cy="237744"/>
          </a:xfrm>
          <a:prstGeom prst="rect">
            <a:avLst/>
          </a:prstGeom>
          <a:noFill/>
          <a:ln/>
        </p:spPr>
        <p:txBody>
          <a:bodyPr wrap="square" lIns="0" tIns="0" rIns="0" bIns="0" rtlCol="0" anchor="t"/>
          <a:lstStyle/>
          <a:p>
            <a:pPr algn="l" indent="0" marL="0">
              <a:buNone/>
            </a:pPr>
            <a:r>
              <a:rPr lang="en-US" sz="1150" b="1" dirty="0">
                <a:solidFill>
                  <a:srgbClr val="000000"/>
                </a:solidFill>
                <a:latin typeface="Calibri" pitchFamily="34" charset="0"/>
                <a:ea typeface="Calibri" pitchFamily="34" charset="-122"/>
                <a:cs typeface="Calibri" pitchFamily="34" charset="-120"/>
              </a:rPr>
              <a:t>ASSET layer: what exists</a:t>
            </a:r>
            <a:endParaRPr lang="en-US" sz="1150" dirty="0"/>
          </a:p>
        </p:txBody>
      </p:sp>
      <p:sp>
        <p:nvSpPr>
          <p:cNvPr id="49" name="Text 47"/>
          <p:cNvSpPr txBox="1"/>
          <p:nvPr/>
        </p:nvSpPr>
        <p:spPr>
          <a:xfrm>
            <a:off x="685800" y="6236208"/>
            <a:ext cx="3429000" cy="237744"/>
          </a:xfrm>
          <a:prstGeom prst="rect">
            <a:avLst/>
          </a:prstGeom>
          <a:noFill/>
          <a:ln/>
        </p:spPr>
        <p:txBody>
          <a:bodyPr wrap="square" lIns="0" tIns="0" rIns="0" bIns="0" rtlCol="0" anchor="t"/>
          <a:lstStyle/>
          <a:p>
            <a:pPr algn="l" indent="0" marL="0">
              <a:buNone/>
            </a:pPr>
            <a:r>
              <a:rPr lang="en-US" sz="1100" dirty="0">
                <a:solidFill>
                  <a:srgbClr val="202124"/>
                </a:solidFill>
                <a:latin typeface="Calibri" pitchFamily="34" charset="0"/>
                <a:ea typeface="Calibri" pitchFamily="34" charset="-122"/>
                <a:cs typeface="Calibri" pitchFamily="34" charset="-120"/>
              </a:rPr>
              <a:t>assets · locations · species</a:t>
            </a:r>
            <a:endParaRPr lang="en-US" sz="1100" dirty="0"/>
          </a:p>
        </p:txBody>
      </p:sp>
      <p:sp>
        <p:nvSpPr>
          <p:cNvPr id="50" name="Text 48"/>
          <p:cNvSpPr txBox="1"/>
          <p:nvPr/>
        </p:nvSpPr>
        <p:spPr>
          <a:xfrm>
            <a:off x="4297680" y="5943600"/>
            <a:ext cx="3611880" cy="566928"/>
          </a:xfrm>
          <a:prstGeom prst="rect">
            <a:avLst/>
          </a:prstGeom>
          <a:solidFill>
            <a:srgbClr val="F2F2F2"/>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1" name="Text 49"/>
          <p:cNvSpPr txBox="1"/>
          <p:nvPr/>
        </p:nvSpPr>
        <p:spPr>
          <a:xfrm>
            <a:off x="4389120" y="5989320"/>
            <a:ext cx="3429000" cy="237744"/>
          </a:xfrm>
          <a:prstGeom prst="rect">
            <a:avLst/>
          </a:prstGeom>
          <a:noFill/>
          <a:ln/>
        </p:spPr>
        <p:txBody>
          <a:bodyPr wrap="square" lIns="0" tIns="0" rIns="0" bIns="0" rtlCol="0" anchor="t"/>
          <a:lstStyle/>
          <a:p>
            <a:pPr algn="l" indent="0" marL="0">
              <a:buNone/>
            </a:pPr>
            <a:r>
              <a:rPr lang="en-US" sz="1150" b="1" dirty="0">
                <a:solidFill>
                  <a:srgbClr val="000000"/>
                </a:solidFill>
                <a:latin typeface="Calibri" pitchFamily="34" charset="0"/>
                <a:ea typeface="Calibri" pitchFamily="34" charset="-122"/>
                <a:cs typeface="Calibri" pitchFamily="34" charset="-120"/>
              </a:rPr>
              <a:t>OPERATIONS layer: what needs to happen</a:t>
            </a:r>
            <a:endParaRPr lang="en-US" sz="1150" dirty="0"/>
          </a:p>
        </p:txBody>
      </p:sp>
      <p:sp>
        <p:nvSpPr>
          <p:cNvPr id="52" name="Text 50"/>
          <p:cNvSpPr txBox="1"/>
          <p:nvPr/>
        </p:nvSpPr>
        <p:spPr>
          <a:xfrm>
            <a:off x="4389120" y="6236208"/>
            <a:ext cx="3429000" cy="237744"/>
          </a:xfrm>
          <a:prstGeom prst="rect">
            <a:avLst/>
          </a:prstGeom>
          <a:noFill/>
          <a:ln/>
        </p:spPr>
        <p:txBody>
          <a:bodyPr wrap="square" lIns="0" tIns="0" rIns="0" bIns="0" rtlCol="0" anchor="t"/>
          <a:lstStyle/>
          <a:p>
            <a:pPr algn="l" indent="0" marL="0">
              <a:buNone/>
            </a:pPr>
            <a:r>
              <a:rPr lang="en-US" sz="1100" dirty="0">
                <a:solidFill>
                  <a:srgbClr val="202124"/>
                </a:solidFill>
                <a:latin typeface="Calibri" pitchFamily="34" charset="0"/>
                <a:ea typeface="Calibri" pitchFamily="34" charset="-122"/>
                <a:cs typeface="Calibri" pitchFamily="34" charset="-120"/>
              </a:rPr>
              <a:t>issues · tasks · inspections · harvests</a:t>
            </a:r>
            <a:endParaRPr lang="en-US" sz="1100" dirty="0"/>
          </a:p>
        </p:txBody>
      </p:sp>
      <p:sp>
        <p:nvSpPr>
          <p:cNvPr id="53" name="Text 51"/>
          <p:cNvSpPr txBox="1"/>
          <p:nvPr/>
        </p:nvSpPr>
        <p:spPr>
          <a:xfrm>
            <a:off x="8001000" y="5943600"/>
            <a:ext cx="3611880" cy="566928"/>
          </a:xfrm>
          <a:prstGeom prst="rect">
            <a:avLst/>
          </a:prstGeom>
          <a:solidFill>
            <a:srgbClr val="F2F2F2"/>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4" name="Text 52"/>
          <p:cNvSpPr txBox="1"/>
          <p:nvPr/>
        </p:nvSpPr>
        <p:spPr>
          <a:xfrm>
            <a:off x="8092440" y="5989320"/>
            <a:ext cx="3429000" cy="237744"/>
          </a:xfrm>
          <a:prstGeom prst="rect">
            <a:avLst/>
          </a:prstGeom>
          <a:noFill/>
          <a:ln/>
        </p:spPr>
        <p:txBody>
          <a:bodyPr wrap="square" lIns="0" tIns="0" rIns="0" bIns="0" rtlCol="0" anchor="t"/>
          <a:lstStyle/>
          <a:p>
            <a:pPr algn="l" indent="0" marL="0">
              <a:buNone/>
            </a:pPr>
            <a:r>
              <a:rPr lang="en-US" sz="1150" b="1" dirty="0">
                <a:solidFill>
                  <a:srgbClr val="000000"/>
                </a:solidFill>
                <a:latin typeface="Calibri" pitchFamily="34" charset="0"/>
                <a:ea typeface="Calibri" pitchFamily="34" charset="-122"/>
                <a:cs typeface="Calibri" pitchFamily="34" charset="-120"/>
              </a:rPr>
              <a:t>INTELLIGENCE layer: what next</a:t>
            </a:r>
            <a:endParaRPr lang="en-US" sz="1150" dirty="0"/>
          </a:p>
        </p:txBody>
      </p:sp>
      <p:sp>
        <p:nvSpPr>
          <p:cNvPr id="55" name="Text 53"/>
          <p:cNvSpPr txBox="1"/>
          <p:nvPr/>
        </p:nvSpPr>
        <p:spPr>
          <a:xfrm>
            <a:off x="8092440" y="6236208"/>
            <a:ext cx="3429000" cy="237744"/>
          </a:xfrm>
          <a:prstGeom prst="rect">
            <a:avLst/>
          </a:prstGeom>
          <a:noFill/>
          <a:ln/>
        </p:spPr>
        <p:txBody>
          <a:bodyPr wrap="square" lIns="0" tIns="0" rIns="0" bIns="0" rtlCol="0" anchor="t"/>
          <a:lstStyle/>
          <a:p>
            <a:pPr algn="l" indent="0" marL="0">
              <a:buNone/>
            </a:pPr>
            <a:r>
              <a:rPr lang="en-US" sz="1100" dirty="0">
                <a:solidFill>
                  <a:srgbClr val="202124"/>
                </a:solidFill>
                <a:latin typeface="Calibri" pitchFamily="34" charset="0"/>
                <a:ea typeface="Calibri" pitchFamily="34" charset="-122"/>
                <a:cs typeface="Calibri" pitchFamily="34" charset="-120"/>
              </a:rPr>
              <a:t>rules now; models later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Methodology &amp; Algorithm Workflow</a:t>
            </a:r>
            <a:endParaRPr lang="en-US" sz="2800" dirty="0"/>
          </a:p>
        </p:txBody>
      </p:sp>
      <p:sp>
        <p:nvSpPr>
          <p:cNvPr id="3" name="Text 1"/>
          <p:cNvSpPr txBox="1"/>
          <p:nvPr/>
        </p:nvSpPr>
        <p:spPr>
          <a:xfrm>
            <a:off x="594360" y="1024128"/>
            <a:ext cx="4572000" cy="256032"/>
          </a:xfrm>
          <a:prstGeom prst="rect">
            <a:avLst/>
          </a:prstGeom>
          <a:noFill/>
          <a:ln/>
        </p:spPr>
        <p:txBody>
          <a:bodyPr wrap="square" lIns="0" tIns="0" rIns="0" bIns="0" rtlCol="0" anchor="t"/>
          <a:lstStyle/>
          <a:p>
            <a:pPr algn="l" indent="0" marL="0">
              <a:buNone/>
            </a:pPr>
            <a:r>
              <a:rPr lang="en-US" sz="1400" b="1" dirty="0">
                <a:solidFill>
                  <a:srgbClr val="000000"/>
                </a:solidFill>
                <a:latin typeface="Arial" pitchFamily="34" charset="0"/>
                <a:ea typeface="Arial" pitchFamily="34" charset="-122"/>
                <a:cs typeface="Arial" pitchFamily="34" charset="-120"/>
              </a:rPr>
              <a:t>Botanical Operations Agent: rules, not ML</a:t>
            </a:r>
            <a:endParaRPr lang="en-US" sz="1400" dirty="0"/>
          </a:p>
        </p:txBody>
      </p:sp>
      <p:sp>
        <p:nvSpPr>
          <p:cNvPr id="4" name="Text 2"/>
          <p:cNvSpPr txBox="1"/>
          <p:nvPr/>
        </p:nvSpPr>
        <p:spPr>
          <a:xfrm>
            <a:off x="594360" y="1371600"/>
            <a:ext cx="3108960" cy="50292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Inputs: asset state, observation history, weather</a:t>
            </a:r>
            <a:endParaRPr lang="en-US" sz="1100" dirty="0"/>
          </a:p>
        </p:txBody>
      </p:sp>
      <p:sp>
        <p:nvSpPr>
          <p:cNvPr id="5" name="Shape 3"/>
          <p:cNvSpPr/>
          <p:nvPr/>
        </p:nvSpPr>
        <p:spPr>
          <a:xfrm>
            <a:off x="2148840" y="1874520"/>
            <a:ext cx="0" cy="210312"/>
          </a:xfrm>
          <a:prstGeom prst="line">
            <a:avLst/>
          </a:prstGeom>
          <a:noFill/>
          <a:ln w="15875">
            <a:solidFill>
              <a:srgbClr val="000000"/>
            </a:solidFill>
            <a:prstDash val="solid"/>
            <a:tailEnd type="triangle"/>
          </a:ln>
        </p:spPr>
      </p:sp>
      <p:sp>
        <p:nvSpPr>
          <p:cNvPr id="6" name="Text 4"/>
          <p:cNvSpPr txBox="1"/>
          <p:nvPr/>
        </p:nvSpPr>
        <p:spPr>
          <a:xfrm>
            <a:off x="594360" y="2084832"/>
            <a:ext cx="3108960" cy="50292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Evaluate rules (thresholds per workspace)</a:t>
            </a:r>
            <a:endParaRPr lang="en-US" sz="1100" dirty="0"/>
          </a:p>
        </p:txBody>
      </p:sp>
      <p:sp>
        <p:nvSpPr>
          <p:cNvPr id="7" name="Shape 5"/>
          <p:cNvSpPr/>
          <p:nvPr/>
        </p:nvSpPr>
        <p:spPr>
          <a:xfrm>
            <a:off x="2148840" y="2587752"/>
            <a:ext cx="0" cy="210312"/>
          </a:xfrm>
          <a:prstGeom prst="line">
            <a:avLst/>
          </a:prstGeom>
          <a:noFill/>
          <a:ln w="15875">
            <a:solidFill>
              <a:srgbClr val="000000"/>
            </a:solidFill>
            <a:prstDash val="solid"/>
            <a:tailEnd type="triangle"/>
          </a:ln>
        </p:spPr>
      </p:sp>
      <p:sp>
        <p:nvSpPr>
          <p:cNvPr id="8" name="Text 6"/>
          <p:cNvSpPr txBox="1"/>
          <p:nvPr/>
        </p:nvSpPr>
        <p:spPr>
          <a:xfrm>
            <a:off x="594360" y="2798064"/>
            <a:ext cx="3108960" cy="50292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De-duplicate by rule + subject</a:t>
            </a:r>
            <a:endParaRPr lang="en-US" sz="1100" dirty="0"/>
          </a:p>
        </p:txBody>
      </p:sp>
      <p:sp>
        <p:nvSpPr>
          <p:cNvPr id="9" name="Shape 7"/>
          <p:cNvSpPr/>
          <p:nvPr/>
        </p:nvSpPr>
        <p:spPr>
          <a:xfrm>
            <a:off x="2148840" y="3300984"/>
            <a:ext cx="0" cy="210312"/>
          </a:xfrm>
          <a:prstGeom prst="line">
            <a:avLst/>
          </a:prstGeom>
          <a:noFill/>
          <a:ln w="15875">
            <a:solidFill>
              <a:srgbClr val="000000"/>
            </a:solidFill>
            <a:prstDash val="solid"/>
            <a:tailEnd type="triangle"/>
          </a:ln>
        </p:spPr>
      </p:sp>
      <p:sp>
        <p:nvSpPr>
          <p:cNvPr id="10" name="Text 8"/>
          <p:cNvSpPr txBox="1"/>
          <p:nvPr/>
        </p:nvSpPr>
        <p:spPr>
          <a:xfrm>
            <a:off x="594360" y="3511296"/>
            <a:ext cx="3108960" cy="502920"/>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Recommendation with explanation</a:t>
            </a:r>
            <a:endParaRPr lang="en-US" sz="1100" dirty="0"/>
          </a:p>
        </p:txBody>
      </p:sp>
      <p:sp>
        <p:nvSpPr>
          <p:cNvPr id="11" name="Shape 9"/>
          <p:cNvSpPr/>
          <p:nvPr/>
        </p:nvSpPr>
        <p:spPr>
          <a:xfrm>
            <a:off x="2148840" y="4014216"/>
            <a:ext cx="0" cy="210312"/>
          </a:xfrm>
          <a:prstGeom prst="line">
            <a:avLst/>
          </a:prstGeom>
          <a:noFill/>
          <a:ln w="15875">
            <a:solidFill>
              <a:srgbClr val="000000"/>
            </a:solidFill>
            <a:prstDash val="solid"/>
            <a:tailEnd type="triangle"/>
          </a:ln>
        </p:spPr>
      </p:sp>
      <p:sp>
        <p:nvSpPr>
          <p:cNvPr id="12" name="Text 10"/>
          <p:cNvSpPr txBox="1"/>
          <p:nvPr/>
        </p:nvSpPr>
        <p:spPr>
          <a:xfrm>
            <a:off x="594360" y="4224528"/>
            <a:ext cx="3108960" cy="50292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100" dirty="0">
                <a:solidFill>
                  <a:srgbClr val="000000"/>
                </a:solidFill>
                <a:latin typeface="Arial" pitchFamily="34" charset="0"/>
                <a:ea typeface="Arial" pitchFamily="34" charset="-122"/>
                <a:cs typeface="Arial" pitchFamily="34" charset="-120"/>
              </a:rPr>
              <a:t>Person accepts → issue or task</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977640" y="1371600"/>
          <a:ext cx="7635240" cy="914400"/>
        </p:xfrm>
        <a:graphic>
          <a:graphicData uri="http://schemas.openxmlformats.org/drawingml/2006/table">
            <a:tbl>
              <a:tblPr/>
              <a:tblGrid>
                <a:gridCol w="1417320"/>
                <a:gridCol w="3246120"/>
                <a:gridCol w="1234440"/>
                <a:gridCol w="1737360"/>
              </a:tblGrid>
              <a:tr h="292608">
                <a:tc>
                  <a:txBody>
                    <a:bodyPr/>
                    <a:lstStyle/>
                    <a:p>
                      <a:pPr indent="0" marL="0">
                        <a:buNone/>
                      </a:pPr>
                      <a:r>
                        <a:rPr lang="en-US" sz="1050" b="1" dirty="0">
                          <a:solidFill>
                            <a:srgbClr val="000000"/>
                          </a:solidFill>
                          <a:latin typeface="Arial" pitchFamily="34" charset="0"/>
                          <a:ea typeface="Arial" pitchFamily="34" charset="-122"/>
                          <a:cs typeface="Arial" pitchFamily="34" charset="-120"/>
                        </a:rPr>
                        <a:t>Rule</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Arial" pitchFamily="34" charset="0"/>
                          <a:ea typeface="Arial" pitchFamily="34" charset="-122"/>
                          <a:cs typeface="Arial" pitchFamily="34" charset="-120"/>
                        </a:rPr>
                        <a:t>Trigger</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Arial" pitchFamily="34" charset="0"/>
                          <a:ea typeface="Arial" pitchFamily="34" charset="-122"/>
                          <a:cs typeface="Arial" pitchFamily="34" charset="-120"/>
                        </a:rPr>
                        <a:t>Output</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Arial" pitchFamily="34" charset="0"/>
                          <a:ea typeface="Arial" pitchFamily="34" charset="-122"/>
                          <a:cs typeface="Arial" pitchFamily="34" charset="-120"/>
                        </a:rPr>
                        <a:t>Status</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7200">
                <a:tc>
                  <a:txBody>
                    <a:bodyPr/>
                    <a:lstStyle/>
                    <a:p>
                      <a:pPr indent="0" marL="0">
                        <a:buNone/>
                      </a:pPr>
                      <a:r>
                        <a:rPr lang="en-US" sz="1050" dirty="0">
                          <a:solidFill>
                            <a:srgbClr val="202124"/>
                          </a:solidFill>
                          <a:latin typeface="Arial" pitchFamily="34" charset="0"/>
                          <a:ea typeface="Arial" pitchFamily="34" charset="-122"/>
                          <a:cs typeface="Arial" pitchFamily="34" charset="-120"/>
                        </a:rPr>
                        <a:t>Inspection gap</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now − last_observed_at &gt; 21 days</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Inspection task</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MVP</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66928">
                <a:tc>
                  <a:txBody>
                    <a:bodyPr/>
                    <a:lstStyle/>
                    <a:p>
                      <a:pPr indent="0" marL="0">
                        <a:buNone/>
                      </a:pPr>
                      <a:r>
                        <a:rPr lang="en-US" sz="1050" dirty="0">
                          <a:solidFill>
                            <a:srgbClr val="202124"/>
                          </a:solidFill>
                          <a:latin typeface="Arial" pitchFamily="34" charset="0"/>
                          <a:ea typeface="Arial" pitchFamily="34" charset="-122"/>
                          <a:cs typeface="Arial" pitchFamily="34" charset="-120"/>
                        </a:rPr>
                        <a:t>Health decline</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score(oldest) − score(newest) ≥ 15 pts within 14 days, ≥ 2 observations</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Issue</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MVP (statistical)</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384048">
                <a:tc>
                  <a:txBody>
                    <a:bodyPr/>
                    <a:lstStyle/>
                    <a:p>
                      <a:pPr indent="0" marL="0">
                        <a:buNone/>
                      </a:pPr>
                      <a:r>
                        <a:rPr lang="en-US" sz="1050" dirty="0">
                          <a:solidFill>
                            <a:srgbClr val="202124"/>
                          </a:solidFill>
                          <a:latin typeface="Arial" pitchFamily="34" charset="0"/>
                          <a:ea typeface="Arial" pitchFamily="34" charset="-122"/>
                          <a:cs typeface="Arial" pitchFamily="34" charset="-120"/>
                        </a:rPr>
                        <a:t>Symptom cluster</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 5 assets in one zone share a symptom</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Cluster issue</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MVP</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66928">
                <a:tc>
                  <a:txBody>
                    <a:bodyPr/>
                    <a:lstStyle/>
                    <a:p>
                      <a:pPr indent="0" marL="0">
                        <a:buNone/>
                      </a:pPr>
                      <a:r>
                        <a:rPr lang="en-US" sz="1050" dirty="0">
                          <a:solidFill>
                            <a:srgbClr val="202124"/>
                          </a:solidFill>
                          <a:latin typeface="Arial" pitchFamily="34" charset="0"/>
                          <a:ea typeface="Arial" pitchFamily="34" charset="-122"/>
                          <a:cs typeface="Arial" pitchFamily="34" charset="-120"/>
                        </a:rPr>
                        <a:t>Irrigation deferral</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rain forecast ≥ R mm and soil moisture ≥ M</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Irrigation advice</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MVP, needs weather + soil data</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66928">
                <a:tc>
                  <a:txBody>
                    <a:bodyPr/>
                    <a:lstStyle/>
                    <a:p>
                      <a:pPr indent="0" marL="0">
                        <a:buNone/>
                      </a:pPr>
                      <a:r>
                        <a:rPr lang="en-US" sz="1050" dirty="0">
                          <a:solidFill>
                            <a:srgbClr val="202124"/>
                          </a:solidFill>
                          <a:latin typeface="Arial" pitchFamily="34" charset="0"/>
                          <a:ea typeface="Arial" pitchFamily="34" charset="-122"/>
                          <a:cs typeface="Arial" pitchFamily="34" charset="-120"/>
                        </a:rPr>
                        <a:t>Harvest window</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batch reaches its configured stage duration</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Harvest task</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MVP (stage rule, not a forecast)</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457200">
                <a:tc>
                  <a:txBody>
                    <a:bodyPr/>
                    <a:lstStyle/>
                    <a:p>
                      <a:pPr indent="0" marL="0">
                        <a:buNone/>
                      </a:pPr>
                      <a:r>
                        <a:rPr lang="en-US" sz="1050" dirty="0">
                          <a:solidFill>
                            <a:srgbClr val="202124"/>
                          </a:solidFill>
                          <a:latin typeface="Arial" pitchFamily="34" charset="0"/>
                          <a:ea typeface="Arial" pitchFamily="34" charset="-122"/>
                          <a:cs typeface="Arial" pitchFamily="34" charset="-120"/>
                        </a:rPr>
                        <a:t>Canopy decline</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zone canopy falls &gt; X% in 90 days</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Inspection task</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050" dirty="0">
                          <a:solidFill>
                            <a:srgbClr val="202124"/>
                          </a:solidFill>
                          <a:latin typeface="Arial" pitchFamily="34" charset="0"/>
                          <a:ea typeface="Arial" pitchFamily="34" charset="-122"/>
                          <a:cs typeface="Arial" pitchFamily="34" charset="-120"/>
                        </a:rPr>
                        <a:t>Needs canopy measurements</a:t>
                      </a:r>
                      <a:endParaRPr lang="en-US" sz="1050" dirty="0">
                        <a:latin typeface="Arial" charset="0"/>
                        <a:ea typeface="Arial" charset="0"/>
                        <a:cs typeface="Arial" charset="0"/>
                      </a:endParaRPr>
                    </a:p>
                  </a:txBody>
                  <a:tcPr marL="54864" marR="54864" marT="36576" marB="36576"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14" name="Text 11"/>
          <p:cNvSpPr txBox="1"/>
          <p:nvPr/>
        </p:nvSpPr>
        <p:spPr>
          <a:xfrm>
            <a:off x="594360" y="4937760"/>
            <a:ext cx="8229600" cy="256032"/>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Observation → Botanical issue: each transition is validated and written to history</a:t>
            </a:r>
            <a:endParaRPr lang="en-US" sz="1300" dirty="0"/>
          </a:p>
        </p:txBody>
      </p:sp>
      <p:sp>
        <p:nvSpPr>
          <p:cNvPr id="15" name="Text 12"/>
          <p:cNvSpPr txBox="1"/>
          <p:nvPr/>
        </p:nvSpPr>
        <p:spPr>
          <a:xfrm>
            <a:off x="594360" y="5257800"/>
            <a:ext cx="2743200" cy="457200"/>
          </a:xfrm>
          <a:prstGeom prst="rect">
            <a:avLst/>
          </a:prstGeom>
          <a:noFill/>
          <a:ln/>
        </p:spPr>
        <p:txBody>
          <a:bodyPr wrap="square" lIns="0" tIns="0" rIns="0" bIns="0" rtlCol="0" anchor="ctr"/>
          <a:lstStyle/>
          <a:p>
            <a:pPr algn="l" indent="0" marL="0">
              <a:buNone/>
            </a:pPr>
            <a:r>
              <a:rPr lang="en-US" sz="1050" b="1" dirty="0">
                <a:solidFill>
                  <a:srgbClr val="202124"/>
                </a:solidFill>
                <a:latin typeface="Arial" pitchFamily="34" charset="0"/>
                <a:ea typeface="Arial" pitchFamily="34" charset="-122"/>
                <a:cs typeface="Arial" pitchFamily="34" charset="-120"/>
              </a:rPr>
              <a:t>GG-001 Neem Tree: leaf yellowing</a:t>
            </a:r>
            <a:endParaRPr lang="en-US" sz="1050" dirty="0"/>
          </a:p>
        </p:txBody>
      </p:sp>
      <p:sp>
        <p:nvSpPr>
          <p:cNvPr id="16" name="Text 13"/>
          <p:cNvSpPr txBox="1"/>
          <p:nvPr/>
        </p:nvSpPr>
        <p:spPr>
          <a:xfrm>
            <a:off x="3383280" y="5303520"/>
            <a:ext cx="1481328" cy="38404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OPEN</a:t>
            </a:r>
            <a:endParaRPr lang="en-US" sz="1050" dirty="0"/>
          </a:p>
        </p:txBody>
      </p:sp>
      <p:sp>
        <p:nvSpPr>
          <p:cNvPr id="17" name="Shape 14"/>
          <p:cNvSpPr/>
          <p:nvPr/>
        </p:nvSpPr>
        <p:spPr>
          <a:xfrm>
            <a:off x="4864608" y="5495544"/>
            <a:ext cx="201168" cy="0"/>
          </a:xfrm>
          <a:prstGeom prst="line">
            <a:avLst/>
          </a:prstGeom>
          <a:noFill/>
          <a:ln w="15875">
            <a:solidFill>
              <a:srgbClr val="000000"/>
            </a:solidFill>
            <a:prstDash val="solid"/>
            <a:tailEnd type="triangle"/>
          </a:ln>
        </p:spPr>
      </p:sp>
      <p:sp>
        <p:nvSpPr>
          <p:cNvPr id="18" name="Text 15"/>
          <p:cNvSpPr txBox="1"/>
          <p:nvPr/>
        </p:nvSpPr>
        <p:spPr>
          <a:xfrm>
            <a:off x="5065776" y="530352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INVESTIGATING</a:t>
            </a:r>
            <a:endParaRPr lang="en-US" sz="1050" dirty="0"/>
          </a:p>
        </p:txBody>
      </p:sp>
      <p:sp>
        <p:nvSpPr>
          <p:cNvPr id="19" name="Shape 16"/>
          <p:cNvSpPr/>
          <p:nvPr/>
        </p:nvSpPr>
        <p:spPr>
          <a:xfrm>
            <a:off x="6547104" y="5495544"/>
            <a:ext cx="201168" cy="0"/>
          </a:xfrm>
          <a:prstGeom prst="line">
            <a:avLst/>
          </a:prstGeom>
          <a:noFill/>
          <a:ln w="15875">
            <a:solidFill>
              <a:srgbClr val="000000"/>
            </a:solidFill>
            <a:prstDash val="solid"/>
            <a:tailEnd type="triangle"/>
          </a:ln>
        </p:spPr>
      </p:sp>
      <p:sp>
        <p:nvSpPr>
          <p:cNvPr id="20" name="Text 17"/>
          <p:cNvSpPr txBox="1"/>
          <p:nvPr/>
        </p:nvSpPr>
        <p:spPr>
          <a:xfrm>
            <a:off x="6748272" y="530352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TREATMENT</a:t>
            </a:r>
            <a:endParaRPr lang="en-US" sz="1050" dirty="0"/>
          </a:p>
        </p:txBody>
      </p:sp>
      <p:sp>
        <p:nvSpPr>
          <p:cNvPr id="21" name="Shape 18"/>
          <p:cNvSpPr/>
          <p:nvPr/>
        </p:nvSpPr>
        <p:spPr>
          <a:xfrm>
            <a:off x="8229600" y="5495544"/>
            <a:ext cx="201168" cy="0"/>
          </a:xfrm>
          <a:prstGeom prst="line">
            <a:avLst/>
          </a:prstGeom>
          <a:noFill/>
          <a:ln w="15875">
            <a:solidFill>
              <a:srgbClr val="000000"/>
            </a:solidFill>
            <a:prstDash val="solid"/>
            <a:tailEnd type="triangle"/>
          </a:ln>
        </p:spPr>
      </p:sp>
      <p:sp>
        <p:nvSpPr>
          <p:cNvPr id="22" name="Text 19"/>
          <p:cNvSpPr txBox="1"/>
          <p:nvPr/>
        </p:nvSpPr>
        <p:spPr>
          <a:xfrm>
            <a:off x="8430768" y="530352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MONITORING</a:t>
            </a:r>
            <a:endParaRPr lang="en-US" sz="1050" dirty="0"/>
          </a:p>
        </p:txBody>
      </p:sp>
      <p:sp>
        <p:nvSpPr>
          <p:cNvPr id="23" name="Shape 20"/>
          <p:cNvSpPr/>
          <p:nvPr/>
        </p:nvSpPr>
        <p:spPr>
          <a:xfrm>
            <a:off x="9912096" y="5495544"/>
            <a:ext cx="201168" cy="0"/>
          </a:xfrm>
          <a:prstGeom prst="line">
            <a:avLst/>
          </a:prstGeom>
          <a:noFill/>
          <a:ln w="15875">
            <a:solidFill>
              <a:srgbClr val="000000"/>
            </a:solidFill>
            <a:prstDash val="solid"/>
            <a:tailEnd type="triangle"/>
          </a:ln>
        </p:spPr>
      </p:sp>
      <p:sp>
        <p:nvSpPr>
          <p:cNvPr id="24" name="Text 21"/>
          <p:cNvSpPr txBox="1"/>
          <p:nvPr/>
        </p:nvSpPr>
        <p:spPr>
          <a:xfrm>
            <a:off x="10113264" y="530352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RESOLVED</a:t>
            </a:r>
            <a:endParaRPr lang="en-US" sz="1050" dirty="0"/>
          </a:p>
        </p:txBody>
      </p:sp>
      <p:sp>
        <p:nvSpPr>
          <p:cNvPr id="25" name="Text 22"/>
          <p:cNvSpPr txBox="1"/>
          <p:nvPr/>
        </p:nvSpPr>
        <p:spPr>
          <a:xfrm>
            <a:off x="594360" y="5760720"/>
            <a:ext cx="2743200" cy="457200"/>
          </a:xfrm>
          <a:prstGeom prst="rect">
            <a:avLst/>
          </a:prstGeom>
          <a:noFill/>
          <a:ln/>
        </p:spPr>
        <p:txBody>
          <a:bodyPr wrap="square" lIns="0" tIns="0" rIns="0" bIns="0" rtlCol="0" anchor="ctr"/>
          <a:lstStyle/>
          <a:p>
            <a:pPr algn="l" indent="0" marL="0">
              <a:buNone/>
            </a:pPr>
            <a:r>
              <a:rPr lang="en-US" sz="1050" b="1" dirty="0">
                <a:solidFill>
                  <a:srgbClr val="202124"/>
                </a:solidFill>
                <a:latin typeface="Arial" pitchFamily="34" charset="0"/>
                <a:ea typeface="Arial" pitchFamily="34" charset="-122"/>
                <a:cs typeface="Arial" pitchFamily="34" charset="-120"/>
              </a:rPr>
              <a:t>GG-002 Tomato field: possible fungal infection</a:t>
            </a:r>
            <a:endParaRPr lang="en-US" sz="1050" dirty="0"/>
          </a:p>
        </p:txBody>
      </p:sp>
      <p:sp>
        <p:nvSpPr>
          <p:cNvPr id="26" name="Text 23"/>
          <p:cNvSpPr txBox="1"/>
          <p:nvPr/>
        </p:nvSpPr>
        <p:spPr>
          <a:xfrm>
            <a:off x="3383280" y="5806440"/>
            <a:ext cx="1481328" cy="384048"/>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OPEN</a:t>
            </a:r>
            <a:endParaRPr lang="en-US" sz="1050" dirty="0"/>
          </a:p>
        </p:txBody>
      </p:sp>
      <p:sp>
        <p:nvSpPr>
          <p:cNvPr id="27" name="Shape 24"/>
          <p:cNvSpPr/>
          <p:nvPr/>
        </p:nvSpPr>
        <p:spPr>
          <a:xfrm>
            <a:off x="4864608" y="5998464"/>
            <a:ext cx="201168" cy="0"/>
          </a:xfrm>
          <a:prstGeom prst="line">
            <a:avLst/>
          </a:prstGeom>
          <a:noFill/>
          <a:ln w="15875">
            <a:solidFill>
              <a:srgbClr val="000000"/>
            </a:solidFill>
            <a:prstDash val="solid"/>
            <a:tailEnd type="triangle"/>
          </a:ln>
        </p:spPr>
      </p:sp>
      <p:sp>
        <p:nvSpPr>
          <p:cNvPr id="28" name="Text 25"/>
          <p:cNvSpPr txBox="1"/>
          <p:nvPr/>
        </p:nvSpPr>
        <p:spPr>
          <a:xfrm>
            <a:off x="5065776" y="580644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FIELD INSPECTION</a:t>
            </a:r>
            <a:endParaRPr lang="en-US" sz="1050" dirty="0"/>
          </a:p>
        </p:txBody>
      </p:sp>
      <p:sp>
        <p:nvSpPr>
          <p:cNvPr id="29" name="Shape 26"/>
          <p:cNvSpPr/>
          <p:nvPr/>
        </p:nvSpPr>
        <p:spPr>
          <a:xfrm>
            <a:off x="6547104" y="5998464"/>
            <a:ext cx="201168" cy="0"/>
          </a:xfrm>
          <a:prstGeom prst="line">
            <a:avLst/>
          </a:prstGeom>
          <a:noFill/>
          <a:ln w="15875">
            <a:solidFill>
              <a:srgbClr val="000000"/>
            </a:solidFill>
            <a:prstDash val="solid"/>
            <a:tailEnd type="triangle"/>
          </a:ln>
        </p:spPr>
      </p:sp>
      <p:sp>
        <p:nvSpPr>
          <p:cNvPr id="30" name="Text 27"/>
          <p:cNvSpPr txBox="1"/>
          <p:nvPr/>
        </p:nvSpPr>
        <p:spPr>
          <a:xfrm>
            <a:off x="6748272" y="580644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TREATMENT</a:t>
            </a:r>
            <a:endParaRPr lang="en-US" sz="1050" dirty="0"/>
          </a:p>
        </p:txBody>
      </p:sp>
      <p:sp>
        <p:nvSpPr>
          <p:cNvPr id="31" name="Shape 28"/>
          <p:cNvSpPr/>
          <p:nvPr/>
        </p:nvSpPr>
        <p:spPr>
          <a:xfrm>
            <a:off x="8229600" y="5998464"/>
            <a:ext cx="201168" cy="0"/>
          </a:xfrm>
          <a:prstGeom prst="line">
            <a:avLst/>
          </a:prstGeom>
          <a:noFill/>
          <a:ln w="15875">
            <a:solidFill>
              <a:srgbClr val="000000"/>
            </a:solidFill>
            <a:prstDash val="solid"/>
            <a:tailEnd type="triangle"/>
          </a:ln>
        </p:spPr>
      </p:sp>
      <p:sp>
        <p:nvSpPr>
          <p:cNvPr id="32" name="Text 29"/>
          <p:cNvSpPr txBox="1"/>
          <p:nvPr/>
        </p:nvSpPr>
        <p:spPr>
          <a:xfrm>
            <a:off x="8430768" y="580644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MONITORING</a:t>
            </a:r>
            <a:endParaRPr lang="en-US" sz="1050" dirty="0"/>
          </a:p>
        </p:txBody>
      </p:sp>
      <p:sp>
        <p:nvSpPr>
          <p:cNvPr id="33" name="Shape 30"/>
          <p:cNvSpPr/>
          <p:nvPr/>
        </p:nvSpPr>
        <p:spPr>
          <a:xfrm>
            <a:off x="9912096" y="5998464"/>
            <a:ext cx="201168" cy="0"/>
          </a:xfrm>
          <a:prstGeom prst="line">
            <a:avLst/>
          </a:prstGeom>
          <a:noFill/>
          <a:ln w="15875">
            <a:solidFill>
              <a:srgbClr val="000000"/>
            </a:solidFill>
            <a:prstDash val="solid"/>
            <a:tailEnd type="triangle"/>
          </a:ln>
        </p:spPr>
      </p:sp>
      <p:sp>
        <p:nvSpPr>
          <p:cNvPr id="34" name="Text 31"/>
          <p:cNvSpPr txBox="1"/>
          <p:nvPr/>
        </p:nvSpPr>
        <p:spPr>
          <a:xfrm>
            <a:off x="10113264" y="5806440"/>
            <a:ext cx="1481328" cy="384048"/>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1050" dirty="0">
                <a:solidFill>
                  <a:srgbClr val="000000"/>
                </a:solidFill>
                <a:latin typeface="Arial" pitchFamily="34" charset="0"/>
                <a:ea typeface="Arial" pitchFamily="34" charset="-122"/>
                <a:cs typeface="Arial" pitchFamily="34" charset="-120"/>
              </a:rPr>
              <a:t>RESOLVED</a:t>
            </a:r>
            <a:endParaRPr lang="en-US" sz="1050" dirty="0"/>
          </a:p>
        </p:txBody>
      </p:sp>
      <p:sp>
        <p:nvSpPr>
          <p:cNvPr id="35" name="Text 32"/>
          <p:cNvSpPr txBox="1"/>
          <p:nvPr/>
        </p:nvSpPr>
        <p:spPr>
          <a:xfrm>
            <a:off x="594360" y="6446520"/>
            <a:ext cx="11018520" cy="274320"/>
          </a:xfrm>
          <a:prstGeom prst="rect">
            <a:avLst/>
          </a:prstGeom>
          <a:noFill/>
          <a:ln/>
        </p:spPr>
        <p:txBody>
          <a:bodyPr wrap="square" lIns="0" tIns="0" rIns="0" bIns="0" rtlCol="0" anchor="t"/>
          <a:lstStyle/>
          <a:p>
            <a:pPr algn="l" indent="0" marL="0">
              <a:buNone/>
            </a:pPr>
            <a:r>
              <a:rPr lang="en-US" sz="1050" i="1" dirty="0">
                <a:solidFill>
                  <a:srgbClr val="595959"/>
                </a:solidFill>
                <a:latin typeface="Arial" pitchFamily="34" charset="0"/>
                <a:ea typeface="Arial" pitchFamily="34" charset="-122"/>
                <a:cs typeface="Arial" pitchFamily="34" charset="-120"/>
              </a:rPr>
              <a:t>Health band: Healthy ≥ 70 · At risk 40-69 · Critical &lt; 40 (configurable). Output is labelled RULE or STATISTICAL; MODEL and LLM labels appear only when a real model exists.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Feasibility &amp; Technology Stack</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188720"/>
          <a:ext cx="7223760" cy="914400"/>
        </p:xfrm>
        <a:graphic>
          <a:graphicData uri="http://schemas.openxmlformats.org/drawingml/2006/table">
            <a:tbl>
              <a:tblPr/>
              <a:tblGrid>
                <a:gridCol w="1188720"/>
                <a:gridCol w="4023360"/>
                <a:gridCol w="2011680"/>
              </a:tblGrid>
              <a:tr h="310896">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Choice</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58368">
                <a:tc>
                  <a:txBody>
                    <a:bodyPr/>
                    <a:lstStyle/>
                    <a:p>
                      <a:pPr indent="0" marL="0">
                        <a:buNone/>
                      </a:pPr>
                      <a:r>
                        <a:rPr lang="en-US" sz="1200" b="1" dirty="0">
                          <a:solidFill>
                            <a:srgbClr val="202124"/>
                          </a:solidFill>
                          <a:latin typeface="Calibri" pitchFamily="34" charset="0"/>
                          <a:ea typeface="Calibri" pitchFamily="34" charset="-122"/>
                          <a:cs typeface="Calibri" pitchFamily="34" charset="-120"/>
                        </a:rPr>
                        <a:t>Frontend</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React, TypeScript, Vite, Tailwind, shadcn/ui, TanStack Query, MapLibre GL, Recharts</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Open-source, mature, typed</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48640">
                <a:tc>
                  <a:txBody>
                    <a:bodyPr/>
                    <a:lstStyle/>
                    <a:p>
                      <a:pPr indent="0" marL="0">
                        <a:buNone/>
                      </a:pPr>
                      <a:r>
                        <a:rPr lang="en-US" sz="1200" b="1" dirty="0">
                          <a:solidFill>
                            <a:srgbClr val="202124"/>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Python, FastAPI, Pydantic, SQLAlchemy, Alembic</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Typed API; same language as later ML</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48640">
                <a:tc>
                  <a:txBody>
                    <a:bodyPr/>
                    <a:lstStyle/>
                    <a:p>
                      <a:pPr indent="0" marL="0">
                        <a:buNone/>
                      </a:pPr>
                      <a:r>
                        <a:rPr lang="en-US" sz="1200" b="1" dirty="0">
                          <a:solidFill>
                            <a:srgbClr val="202124"/>
                          </a:solidFill>
                          <a:latin typeface="Calibri" pitchFamily="34" charset="0"/>
                          <a:ea typeface="Calibri" pitchFamily="34" charset="-122"/>
                          <a:cs typeface="Calibri" pitchFamily="34" charset="-120"/>
                        </a:rPr>
                        <a:t>Database</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PostgreSQL 16 + PostGIS</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Spatial queries, constraints, history</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48640">
                <a:tc>
                  <a:txBody>
                    <a:bodyPr/>
                    <a:lstStyle/>
                    <a:p>
                      <a:pPr indent="0" marL="0">
                        <a:buNone/>
                      </a:pPr>
                      <a:r>
                        <a:rPr lang="en-US" sz="1200" b="1" dirty="0">
                          <a:solidFill>
                            <a:srgbClr val="202124"/>
                          </a:solidFill>
                          <a:latin typeface="Calibri" pitchFamily="34" charset="0"/>
                          <a:ea typeface="Calibri" pitchFamily="34" charset="-122"/>
                          <a:cs typeface="Calibri" pitchFamily="34" charset="-120"/>
                        </a:rPr>
                        <a:t>Jobs</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DB-backed job table + APScheduler</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No extra service in the MVP</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02920">
                <a:tc>
                  <a:txBody>
                    <a:bodyPr/>
                    <a:lstStyle/>
                    <a:p>
                      <a:pPr indent="0" marL="0">
                        <a:buNone/>
                      </a:pPr>
                      <a:r>
                        <a:rPr lang="en-US" sz="1200" b="1" dirty="0">
                          <a:solidFill>
                            <a:srgbClr val="202124"/>
                          </a:solidFill>
                          <a:latin typeface="Calibri" pitchFamily="34" charset="0"/>
                          <a:ea typeface="Calibri" pitchFamily="34" charset="-122"/>
                          <a:cs typeface="Calibri" pitchFamily="34" charset="-120"/>
                        </a:rPr>
                        <a:t>Storage</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S3-compatible (MinIO for local)</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Photos and reports</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822960">
                <a:tc>
                  <a:txBody>
                    <a:bodyPr/>
                    <a:lstStyle/>
                    <a:p>
                      <a:pPr indent="0" marL="0">
                        <a:buNone/>
                      </a:pPr>
                      <a:r>
                        <a:rPr lang="en-US" sz="1200" b="1" dirty="0">
                          <a:solidFill>
                            <a:srgbClr val="202124"/>
                          </a:solidFill>
                          <a:latin typeface="Calibri" pitchFamily="34" charset="0"/>
                          <a:ea typeface="Calibri" pitchFamily="34" charset="-122"/>
                          <a:cs typeface="Calibri" pitchFamily="34" charset="-120"/>
                        </a:rPr>
                        <a:t>Intelligence</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Rules and statistics now; scikit-learn, PyTorch, OpenCV or an LLM API only when a real model exists</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No ML dependency in the MVP</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548640">
                <a:tc>
                  <a:txBody>
                    <a:bodyPr/>
                    <a:lstStyle/>
                    <a:p>
                      <a:pPr indent="0" marL="0">
                        <a:buNone/>
                      </a:pPr>
                      <a:r>
                        <a:rPr lang="en-US" sz="1200" b="1" dirty="0">
                          <a:solidFill>
                            <a:srgbClr val="202124"/>
                          </a:solidFill>
                          <a:latin typeface="Calibri" pitchFamily="34" charset="0"/>
                          <a:ea typeface="Calibri" pitchFamily="34" charset="-122"/>
                          <a:cs typeface="Calibri" pitchFamily="34" charset="-120"/>
                        </a:rPr>
                        <a:t>Delivery</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Docker, GitHub Actions, OpenAPI /api/v1</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00" dirty="0">
                          <a:solidFill>
                            <a:srgbClr val="202124"/>
                          </a:solidFill>
                          <a:latin typeface="Calibri" pitchFamily="34" charset="0"/>
                          <a:ea typeface="Calibri" pitchFamily="34" charset="-122"/>
                          <a:cs typeface="Calibri" pitchFamily="34" charset="-120"/>
                        </a:rPr>
                        <a:t>Repeatable builds and tests</a:t>
                      </a:r>
                      <a:endParaRPr lang="en-US" sz="1200" dirty="0">
                        <a:latin typeface="Calibri" charset="0"/>
                        <a:ea typeface="Calibri" charset="0"/>
                        <a:cs typeface="Calibri" charset="0"/>
                      </a:endParaRPr>
                    </a:p>
                  </a:txBody>
                  <a:tcPr marL="73152" marR="73152"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4" name="Text 1"/>
          <p:cNvSpPr txBox="1"/>
          <p:nvPr/>
        </p:nvSpPr>
        <p:spPr>
          <a:xfrm>
            <a:off x="8092440" y="1188720"/>
            <a:ext cx="3520440" cy="434340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5" name="Text 2"/>
          <p:cNvSpPr txBox="1"/>
          <p:nvPr/>
        </p:nvSpPr>
        <p:spPr>
          <a:xfrm>
            <a:off x="8229600" y="1280160"/>
            <a:ext cx="3246120" cy="274320"/>
          </a:xfrm>
          <a:prstGeom prst="rect">
            <a:avLst/>
          </a:prstGeom>
          <a:noFill/>
          <a:ln/>
        </p:spPr>
        <p:txBody>
          <a:bodyPr wrap="square" lIns="0" tIns="0" rIns="0" bIns="0" rtlCol="0" anchor="t"/>
          <a:lstStyle/>
          <a:p>
            <a:pPr algn="l" indent="0" marL="0">
              <a:buNone/>
            </a:pPr>
            <a:r>
              <a:rPr lang="en-US" sz="1400" b="1" dirty="0">
                <a:solidFill>
                  <a:srgbClr val="000000"/>
                </a:solidFill>
                <a:latin typeface="Calibri" pitchFamily="34" charset="0"/>
                <a:ea typeface="Calibri" pitchFamily="34" charset="-122"/>
                <a:cs typeface="Calibri" pitchFamily="34" charset="-120"/>
              </a:rPr>
              <a:t>Feasibility</a:t>
            </a:r>
            <a:endParaRPr lang="en-US" sz="1400" dirty="0"/>
          </a:p>
        </p:txBody>
      </p:sp>
      <p:sp>
        <p:nvSpPr>
          <p:cNvPr id="6" name="Text 3"/>
          <p:cNvSpPr txBox="1"/>
          <p:nvPr/>
        </p:nvSpPr>
        <p:spPr>
          <a:xfrm>
            <a:off x="8229600" y="1627632"/>
            <a:ext cx="3246120" cy="3840480"/>
          </a:xfrm>
          <a:prstGeom prst="rect">
            <a:avLst/>
          </a:prstGeom>
          <a:noFill/>
          <a:ln/>
        </p:spPr>
        <p:txBody>
          <a:bodyPr wrap="square" lIns="0" tIns="0" rIns="0" bIns="0" rtlCol="0" anchor="t"/>
          <a:lstStyle/>
          <a:p>
            <a:pPr algn="l" indent="0" marL="0">
              <a:spcAft>
                <a:spcPts val="200"/>
              </a:spcAft>
              <a:buNone/>
            </a:pPr>
            <a:r>
              <a:rPr lang="en-US" sz="1200" b="1" dirty="0">
                <a:solidFill>
                  <a:srgbClr val="202124"/>
                </a:solidFill>
                <a:latin typeface="Calibri" pitchFamily="34" charset="0"/>
                <a:ea typeface="Calibri" pitchFamily="34" charset="-122"/>
                <a:cs typeface="Calibri" pitchFamily="34" charset="-120"/>
              </a:rPr>
              <a:t>Hardware: </a:t>
            </a:r>
            <a:pPr algn="l" indent="0" marL="0">
              <a:spcAft>
                <a:spcPts val="200"/>
              </a:spcAft>
              <a:buNone/>
            </a:pPr>
            <a:r>
              <a:rPr lang="en-US" sz="1200" dirty="0">
                <a:solidFill>
                  <a:srgbClr val="202124"/>
                </a:solidFill>
                <a:latin typeface="Calibri" pitchFamily="34" charset="0"/>
                <a:ea typeface="Calibri" pitchFamily="34" charset="-122"/>
                <a:cs typeface="Calibri" pitchFamily="34" charset="-120"/>
              </a:rPr>
              <a:t>no special hardware. Development laptops, and a phone camera for field photos.</a:t>
            </a:r>
            <a:endParaRPr lang="en-US" sz="1200" dirty="0"/>
          </a:p>
          <a:p>
            <a:pPr algn="l" indent="0" marL="0">
              <a:spcAft>
                <a:spcPts val="200"/>
              </a:spcAft>
              <a:buNone/>
            </a:pPr>
            <a:r>
              <a:rPr lang="en-US" sz="600" dirty="0">
                <a:solidFill>
                  <a:srgbClr val="202124"/>
                </a:solidFill>
                <a:latin typeface="Calibri" pitchFamily="34" charset="0"/>
                <a:ea typeface="Calibri" pitchFamily="34" charset="-122"/>
                <a:cs typeface="Calibri" pitchFamily="34" charset="-120"/>
              </a:rPr>
              <a:t> </a:t>
            </a:r>
            <a:endParaRPr lang="en-US" sz="1200" dirty="0"/>
          </a:p>
          <a:p>
            <a:pPr algn="l" indent="0" marL="0">
              <a:spcAft>
                <a:spcPts val="200"/>
              </a:spcAft>
              <a:buNone/>
            </a:pPr>
            <a:r>
              <a:rPr lang="en-US" sz="1200" b="1" dirty="0">
                <a:solidFill>
                  <a:srgbClr val="202124"/>
                </a:solidFill>
                <a:latin typeface="Calibri" pitchFamily="34" charset="0"/>
                <a:ea typeface="Calibri" pitchFamily="34" charset="-122"/>
                <a:cs typeface="Calibri" pitchFamily="34" charset="-120"/>
              </a:rPr>
              <a:t>Software: </a:t>
            </a:r>
            <a:pPr algn="l" indent="0" marL="0">
              <a:spcAft>
                <a:spcPts val="200"/>
              </a:spcAft>
              <a:buNone/>
            </a:pPr>
            <a:r>
              <a:rPr lang="en-US" sz="1200" dirty="0">
                <a:solidFill>
                  <a:srgbClr val="202124"/>
                </a:solidFill>
                <a:latin typeface="Calibri" pitchFamily="34" charset="0"/>
                <a:ea typeface="Calibri" pitchFamily="34" charset="-122"/>
                <a:cs typeface="Calibri" pitchFamily="34" charset="-120"/>
              </a:rPr>
              <a:t>open-source stack; hosted on container or free-tier services (to be confirmed).</a:t>
            </a:r>
            <a:endParaRPr lang="en-US" sz="1200" dirty="0"/>
          </a:p>
          <a:p>
            <a:pPr algn="l" indent="0" marL="0">
              <a:spcAft>
                <a:spcPts val="200"/>
              </a:spcAft>
              <a:buNone/>
            </a:pPr>
            <a:r>
              <a:rPr lang="en-US" sz="600" dirty="0">
                <a:solidFill>
                  <a:srgbClr val="202124"/>
                </a:solidFill>
                <a:latin typeface="Calibri" pitchFamily="34" charset="0"/>
                <a:ea typeface="Calibri" pitchFamily="34" charset="-122"/>
                <a:cs typeface="Calibri" pitchFamily="34" charset="-120"/>
              </a:rPr>
              <a:t> </a:t>
            </a:r>
            <a:endParaRPr lang="en-US" sz="1200" dirty="0"/>
          </a:p>
          <a:p>
            <a:pPr algn="l" indent="0" marL="0">
              <a:spcAft>
                <a:spcPts val="200"/>
              </a:spcAft>
              <a:buNone/>
            </a:pPr>
            <a:r>
              <a:rPr lang="en-US" sz="1200" b="1" dirty="0">
                <a:solidFill>
                  <a:srgbClr val="202124"/>
                </a:solidFill>
                <a:latin typeface="Calibri" pitchFamily="34" charset="0"/>
                <a:ea typeface="Calibri" pitchFamily="34" charset="-122"/>
                <a:cs typeface="Calibri" pitchFamily="34" charset="-120"/>
              </a:rPr>
              <a:t>Data: </a:t>
            </a:r>
            <a:pPr algn="l" indent="0" marL="0">
              <a:spcAft>
                <a:spcPts val="200"/>
              </a:spcAft>
              <a:buNone/>
            </a:pPr>
            <a:r>
              <a:rPr lang="en-US" sz="1200" dirty="0">
                <a:solidFill>
                  <a:srgbClr val="202124"/>
                </a:solidFill>
                <a:latin typeface="Calibri" pitchFamily="34" charset="0"/>
                <a:ea typeface="Calibri" pitchFamily="34" charset="-122"/>
                <a:cs typeface="Calibri" pitchFamily="34" charset="-120"/>
              </a:rPr>
              <a:t>weather from a public API (Open-Meteo assumed, to be confirmed); observations come from users.</a:t>
            </a:r>
            <a:endParaRPr lang="en-US" sz="1200" dirty="0"/>
          </a:p>
          <a:p>
            <a:pPr algn="l" indent="0" marL="0">
              <a:spcAft>
                <a:spcPts val="200"/>
              </a:spcAft>
              <a:buNone/>
            </a:pPr>
            <a:r>
              <a:rPr lang="en-US" sz="600" dirty="0">
                <a:solidFill>
                  <a:srgbClr val="202124"/>
                </a:solidFill>
                <a:latin typeface="Calibri" pitchFamily="34" charset="0"/>
                <a:ea typeface="Calibri" pitchFamily="34" charset="-122"/>
                <a:cs typeface="Calibri" pitchFamily="34" charset="-120"/>
              </a:rPr>
              <a:t> </a:t>
            </a:r>
            <a:endParaRPr lang="en-US" sz="1200" dirty="0"/>
          </a:p>
          <a:p>
            <a:pPr algn="l" indent="0" marL="0">
              <a:spcAft>
                <a:spcPts val="200"/>
              </a:spcAft>
              <a:buNone/>
            </a:pPr>
            <a:r>
              <a:rPr lang="en-US" sz="1200" b="1" dirty="0">
                <a:solidFill>
                  <a:srgbClr val="202124"/>
                </a:solidFill>
                <a:latin typeface="Calibri" pitchFamily="34" charset="0"/>
                <a:ea typeface="Calibri" pitchFamily="34" charset="-122"/>
                <a:cs typeface="Calibri" pitchFamily="34" charset="-120"/>
              </a:rPr>
              <a:t>Main risks</a:t>
            </a:r>
            <a:endParaRPr lang="en-US" sz="1200" dirty="0"/>
          </a:p>
          <a:p>
            <a:pPr algn="l" marL="342900" indent="-342900">
              <a:spcAft>
                <a:spcPts val="200"/>
              </a:spcAft>
              <a:buSzPct val="100000"/>
              <a:buChar char="•"/>
            </a:pPr>
            <a:r>
              <a:rPr lang="en-US" sz="1200" dirty="0">
                <a:solidFill>
                  <a:srgbClr val="202124"/>
                </a:solidFill>
                <a:latin typeface="Calibri" pitchFamily="34" charset="0"/>
                <a:ea typeface="Calibri" pitchFamily="34" charset="-122"/>
                <a:cs typeface="Calibri" pitchFamily="34" charset="-120"/>
              </a:rPr>
              <a:t>PostGIS setup on dev machines (no Docker yet): use docker-compose or a hosted dev database.</a:t>
            </a:r>
            <a:endParaRPr lang="en-US" sz="1200" dirty="0"/>
          </a:p>
          <a:p>
            <a:pPr algn="l" marL="342900" indent="-342900">
              <a:spcAft>
                <a:spcPts val="200"/>
              </a:spcAft>
              <a:buSzPct val="100000"/>
              <a:buChar char="•"/>
            </a:pPr>
            <a:r>
              <a:rPr lang="en-US" sz="1200" dirty="0">
                <a:solidFill>
                  <a:srgbClr val="202124"/>
                </a:solidFill>
                <a:latin typeface="Calibri" pitchFamily="34" charset="0"/>
                <a:ea typeface="Calibri" pitchFamily="34" charset="-122"/>
                <a:cs typeface="Calibri" pitchFamily="34" charset="-120"/>
              </a:rPr>
              <a:t>Scope creep: MVP and planned features are kept strictly apart.</a:t>
            </a:r>
            <a:endParaRPr lang="en-US" sz="1200" dirty="0"/>
          </a:p>
          <a:p>
            <a:pPr algn="l" marL="342900" indent="-342900">
              <a:spcAft>
                <a:spcPts val="200"/>
              </a:spcAft>
              <a:buSzPct val="100000"/>
              <a:buChar char="•"/>
            </a:pPr>
            <a:r>
              <a:rPr lang="en-US" sz="1200" dirty="0">
                <a:solidFill>
                  <a:srgbClr val="202124"/>
                </a:solidFill>
                <a:latin typeface="Calibri" pitchFamily="34" charset="0"/>
                <a:ea typeface="Calibri" pitchFamily="34" charset="-122"/>
                <a:cs typeface="Calibri" pitchFamily="34" charset="-120"/>
              </a:rPr>
              <a:t>Over-claiming AI: outputs are labelled rule, statistical, model or LLM.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Work Distribution &amp; Timeline (Gantt Chart)</a:t>
            </a:r>
            <a:endParaRPr lang="en-US" sz="2800" dirty="0"/>
          </a:p>
        </p:txBody>
      </p:sp>
      <p:sp>
        <p:nvSpPr>
          <p:cNvPr id="3" name="Text 1"/>
          <p:cNvSpPr txBox="1"/>
          <p:nvPr/>
        </p:nvSpPr>
        <p:spPr>
          <a:xfrm>
            <a:off x="594360" y="1097280"/>
            <a:ext cx="3566160" cy="1097280"/>
          </a:xfrm>
          <a:prstGeom prst="rect">
            <a:avLst/>
          </a:prstGeom>
          <a:solidFill>
            <a:srgbClr val="F2F2F2"/>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 name="Text 2"/>
          <p:cNvSpPr txBox="1"/>
          <p:nvPr/>
        </p:nvSpPr>
        <p:spPr>
          <a:xfrm>
            <a:off x="704088" y="1152144"/>
            <a:ext cx="3346704" cy="237744"/>
          </a:xfrm>
          <a:prstGeom prst="rect">
            <a:avLst/>
          </a:prstGeom>
          <a:noFill/>
          <a:ln/>
        </p:spPr>
        <p:txBody>
          <a:bodyPr wrap="square" lIns="0" tIns="0" rIns="0" bIns="0" rtlCol="0" anchor="t"/>
          <a:lstStyle/>
          <a:p>
            <a:pPr algn="l" indent="0" marL="0">
              <a:buNone/>
            </a:pPr>
            <a:r>
              <a:rPr lang="en-US" sz="1200" b="1" dirty="0">
                <a:solidFill>
                  <a:srgbClr val="000000"/>
                </a:solidFill>
                <a:latin typeface="Calibri" pitchFamily="34" charset="0"/>
                <a:ea typeface="Calibri" pitchFamily="34" charset="-122"/>
                <a:cs typeface="Calibri" pitchFamily="34" charset="-120"/>
              </a:rPr>
              <a:t>Member 1: ____________</a:t>
            </a:r>
            <a:endParaRPr lang="en-US" sz="1200" dirty="0"/>
          </a:p>
        </p:txBody>
      </p:sp>
      <p:sp>
        <p:nvSpPr>
          <p:cNvPr id="5" name="Text 3"/>
          <p:cNvSpPr txBox="1"/>
          <p:nvPr/>
        </p:nvSpPr>
        <p:spPr>
          <a:xfrm>
            <a:off x="704088" y="1408176"/>
            <a:ext cx="3346704" cy="237744"/>
          </a:xfrm>
          <a:prstGeom prst="rect">
            <a:avLst/>
          </a:prstGeom>
          <a:noFill/>
          <a:ln/>
        </p:spPr>
        <p:txBody>
          <a:bodyPr wrap="square" lIns="0" tIns="0" rIns="0" bIns="0" rtlCol="0" anchor="t"/>
          <a:lstStyle/>
          <a:p>
            <a:pPr algn="l" indent="0" marL="0">
              <a:buNone/>
            </a:pPr>
            <a:r>
              <a:rPr lang="en-US" sz="1200" b="1" dirty="0">
                <a:solidFill>
                  <a:srgbClr val="202124"/>
                </a:solidFill>
                <a:latin typeface="Calibri" pitchFamily="34" charset="0"/>
                <a:ea typeface="Calibri" pitchFamily="34" charset="-122"/>
                <a:cs typeface="Calibri" pitchFamily="34" charset="-120"/>
              </a:rPr>
              <a:t>Product and frontend</a:t>
            </a:r>
            <a:endParaRPr lang="en-US" sz="1200" dirty="0"/>
          </a:p>
        </p:txBody>
      </p:sp>
      <p:sp>
        <p:nvSpPr>
          <p:cNvPr id="6" name="Text 4"/>
          <p:cNvSpPr txBox="1"/>
          <p:nvPr/>
        </p:nvSpPr>
        <p:spPr>
          <a:xfrm>
            <a:off x="704088" y="1664208"/>
            <a:ext cx="3346704" cy="502920"/>
          </a:xfrm>
          <a:prstGeom prst="rect">
            <a:avLst/>
          </a:prstGeom>
          <a:noFill/>
          <a:ln/>
        </p:spPr>
        <p:txBody>
          <a:bodyPr wrap="square" lIns="0" tIns="0" rIns="0" bIns="0" rtlCol="0" anchor="t"/>
          <a:lstStyle/>
          <a:p>
            <a:pPr algn="l" indent="0" marL="0">
              <a:buNone/>
            </a:pPr>
            <a:r>
              <a:rPr lang="en-US" sz="1150" dirty="0">
                <a:solidFill>
                  <a:srgbClr val="202124"/>
                </a:solidFill>
                <a:latin typeface="Calibri" pitchFamily="34" charset="0"/>
                <a:ea typeface="Calibri" pitchFamily="34" charset="-122"/>
                <a:cs typeface="Calibri" pitchFamily="34" charset="-120"/>
              </a:rPr>
              <a:t>React UI, map, dashboards, future-feature surfaces, presentation</a:t>
            </a:r>
            <a:endParaRPr lang="en-US" sz="1150" dirty="0"/>
          </a:p>
        </p:txBody>
      </p:sp>
      <p:sp>
        <p:nvSpPr>
          <p:cNvPr id="7" name="Text 5"/>
          <p:cNvSpPr txBox="1"/>
          <p:nvPr/>
        </p:nvSpPr>
        <p:spPr>
          <a:xfrm>
            <a:off x="4320540" y="1097280"/>
            <a:ext cx="3566160" cy="1097280"/>
          </a:xfrm>
          <a:prstGeom prst="rect">
            <a:avLst/>
          </a:prstGeom>
          <a:solidFill>
            <a:srgbClr val="F2F2F2"/>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 name="Text 6"/>
          <p:cNvSpPr txBox="1"/>
          <p:nvPr/>
        </p:nvSpPr>
        <p:spPr>
          <a:xfrm>
            <a:off x="4430268" y="1152144"/>
            <a:ext cx="3346704" cy="237744"/>
          </a:xfrm>
          <a:prstGeom prst="rect">
            <a:avLst/>
          </a:prstGeom>
          <a:noFill/>
          <a:ln/>
        </p:spPr>
        <p:txBody>
          <a:bodyPr wrap="square" lIns="0" tIns="0" rIns="0" bIns="0" rtlCol="0" anchor="t"/>
          <a:lstStyle/>
          <a:p>
            <a:pPr algn="l" indent="0" marL="0">
              <a:buNone/>
            </a:pPr>
            <a:r>
              <a:rPr lang="en-US" sz="1200" b="1" dirty="0">
                <a:solidFill>
                  <a:srgbClr val="000000"/>
                </a:solidFill>
                <a:latin typeface="Calibri" pitchFamily="34" charset="0"/>
                <a:ea typeface="Calibri" pitchFamily="34" charset="-122"/>
                <a:cs typeface="Calibri" pitchFamily="34" charset="-120"/>
              </a:rPr>
              <a:t>Member 2: ____________</a:t>
            </a:r>
            <a:endParaRPr lang="en-US" sz="1200" dirty="0"/>
          </a:p>
        </p:txBody>
      </p:sp>
      <p:sp>
        <p:nvSpPr>
          <p:cNvPr id="9" name="Text 7"/>
          <p:cNvSpPr txBox="1"/>
          <p:nvPr/>
        </p:nvSpPr>
        <p:spPr>
          <a:xfrm>
            <a:off x="4430268" y="1408176"/>
            <a:ext cx="3346704" cy="237744"/>
          </a:xfrm>
          <a:prstGeom prst="rect">
            <a:avLst/>
          </a:prstGeom>
          <a:noFill/>
          <a:ln/>
        </p:spPr>
        <p:txBody>
          <a:bodyPr wrap="square" lIns="0" tIns="0" rIns="0" bIns="0" rtlCol="0" anchor="t"/>
          <a:lstStyle/>
          <a:p>
            <a:pPr algn="l" indent="0" marL="0">
              <a:buNone/>
            </a:pPr>
            <a:r>
              <a:rPr lang="en-US" sz="1200" b="1" dirty="0">
                <a:solidFill>
                  <a:srgbClr val="202124"/>
                </a:solidFill>
                <a:latin typeface="Calibri" pitchFamily="34" charset="0"/>
                <a:ea typeface="Calibri" pitchFamily="34" charset="-122"/>
                <a:cs typeface="Calibri" pitchFamily="34" charset="-120"/>
              </a:rPr>
              <a:t>Engine and backend</a:t>
            </a:r>
            <a:endParaRPr lang="en-US" sz="1200" dirty="0"/>
          </a:p>
        </p:txBody>
      </p:sp>
      <p:sp>
        <p:nvSpPr>
          <p:cNvPr id="10" name="Text 8"/>
          <p:cNvSpPr txBox="1"/>
          <p:nvPr/>
        </p:nvSpPr>
        <p:spPr>
          <a:xfrm>
            <a:off x="4430268" y="1664208"/>
            <a:ext cx="3346704" cy="502920"/>
          </a:xfrm>
          <a:prstGeom prst="rect">
            <a:avLst/>
          </a:prstGeom>
          <a:noFill/>
          <a:ln/>
        </p:spPr>
        <p:txBody>
          <a:bodyPr wrap="square" lIns="0" tIns="0" rIns="0" bIns="0" rtlCol="0" anchor="t"/>
          <a:lstStyle/>
          <a:p>
            <a:pPr algn="l" indent="0" marL="0">
              <a:buNone/>
            </a:pPr>
            <a:r>
              <a:rPr lang="en-US" sz="1150" dirty="0">
                <a:solidFill>
                  <a:srgbClr val="202124"/>
                </a:solidFill>
                <a:latin typeface="Calibri" pitchFamily="34" charset="0"/>
                <a:ea typeface="Calibri" pitchFamily="34" charset="-122"/>
                <a:cs typeface="Calibri" pitchFamily="34" charset="-120"/>
              </a:rPr>
              <a:t>API, database and migrations, rules engine, jobs</a:t>
            </a:r>
            <a:endParaRPr lang="en-US" sz="1150" dirty="0"/>
          </a:p>
        </p:txBody>
      </p:sp>
      <p:sp>
        <p:nvSpPr>
          <p:cNvPr id="11" name="Text 9"/>
          <p:cNvSpPr txBox="1"/>
          <p:nvPr/>
        </p:nvSpPr>
        <p:spPr>
          <a:xfrm>
            <a:off x="8046720" y="1097280"/>
            <a:ext cx="3566160" cy="1097280"/>
          </a:xfrm>
          <a:prstGeom prst="rect">
            <a:avLst/>
          </a:prstGeom>
          <a:solidFill>
            <a:srgbClr val="F2F2F2"/>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 name="Text 10"/>
          <p:cNvSpPr txBox="1"/>
          <p:nvPr/>
        </p:nvSpPr>
        <p:spPr>
          <a:xfrm>
            <a:off x="8156448" y="1152144"/>
            <a:ext cx="3346704" cy="237744"/>
          </a:xfrm>
          <a:prstGeom prst="rect">
            <a:avLst/>
          </a:prstGeom>
          <a:noFill/>
          <a:ln/>
        </p:spPr>
        <p:txBody>
          <a:bodyPr wrap="square" lIns="0" tIns="0" rIns="0" bIns="0" rtlCol="0" anchor="t"/>
          <a:lstStyle/>
          <a:p>
            <a:pPr algn="l" indent="0" marL="0">
              <a:buNone/>
            </a:pPr>
            <a:r>
              <a:rPr lang="en-US" sz="1200" b="1" dirty="0">
                <a:solidFill>
                  <a:srgbClr val="000000"/>
                </a:solidFill>
                <a:latin typeface="Calibri" pitchFamily="34" charset="0"/>
                <a:ea typeface="Calibri" pitchFamily="34" charset="-122"/>
                <a:cs typeface="Calibri" pitchFamily="34" charset="-120"/>
              </a:rPr>
              <a:t>Member 3: ____________</a:t>
            </a:r>
            <a:endParaRPr lang="en-US" sz="1200" dirty="0"/>
          </a:p>
        </p:txBody>
      </p:sp>
      <p:sp>
        <p:nvSpPr>
          <p:cNvPr id="13" name="Text 11"/>
          <p:cNvSpPr txBox="1"/>
          <p:nvPr/>
        </p:nvSpPr>
        <p:spPr>
          <a:xfrm>
            <a:off x="8156448" y="1408176"/>
            <a:ext cx="3346704" cy="237744"/>
          </a:xfrm>
          <a:prstGeom prst="rect">
            <a:avLst/>
          </a:prstGeom>
          <a:noFill/>
          <a:ln/>
        </p:spPr>
        <p:txBody>
          <a:bodyPr wrap="square" lIns="0" tIns="0" rIns="0" bIns="0" rtlCol="0" anchor="t"/>
          <a:lstStyle/>
          <a:p>
            <a:pPr algn="l" indent="0" marL="0">
              <a:buNone/>
            </a:pPr>
            <a:r>
              <a:rPr lang="en-US" sz="1200" b="1" dirty="0">
                <a:solidFill>
                  <a:srgbClr val="202124"/>
                </a:solidFill>
                <a:latin typeface="Calibri" pitchFamily="34" charset="0"/>
                <a:ea typeface="Calibri" pitchFamily="34" charset="-122"/>
                <a:cs typeface="Calibri" pitchFamily="34" charset="-120"/>
              </a:rPr>
              <a:t>Integration and quality</a:t>
            </a:r>
            <a:endParaRPr lang="en-US" sz="1200" dirty="0"/>
          </a:p>
        </p:txBody>
      </p:sp>
      <p:sp>
        <p:nvSpPr>
          <p:cNvPr id="14" name="Text 12"/>
          <p:cNvSpPr txBox="1"/>
          <p:nvPr/>
        </p:nvSpPr>
        <p:spPr>
          <a:xfrm>
            <a:off x="8156448" y="1664208"/>
            <a:ext cx="3346704" cy="502920"/>
          </a:xfrm>
          <a:prstGeom prst="rect">
            <a:avLst/>
          </a:prstGeom>
          <a:noFill/>
          <a:ln/>
        </p:spPr>
        <p:txBody>
          <a:bodyPr wrap="square" lIns="0" tIns="0" rIns="0" bIns="0" rtlCol="0" anchor="t"/>
          <a:lstStyle/>
          <a:p>
            <a:pPr algn="l" indent="0" marL="0">
              <a:buNone/>
            </a:pPr>
            <a:r>
              <a:rPr lang="en-US" sz="1150" dirty="0">
                <a:solidFill>
                  <a:srgbClr val="202124"/>
                </a:solidFill>
                <a:latin typeface="Calibri" pitchFamily="34" charset="0"/>
                <a:ea typeface="Calibri" pitchFamily="34" charset="-122"/>
                <a:cs typeface="Calibri" pitchFamily="34" charset="-120"/>
              </a:rPr>
              <a:t>CI, deployment, tests, documentation, demo data</a:t>
            </a:r>
            <a:endParaRPr lang="en-US" sz="1150" dirty="0"/>
          </a:p>
        </p:txBody>
      </p:sp>
      <p:sp>
        <p:nvSpPr>
          <p:cNvPr id="15" name="Text 13"/>
          <p:cNvSpPr txBox="1"/>
          <p:nvPr/>
        </p:nvSpPr>
        <p:spPr>
          <a:xfrm>
            <a:off x="594360" y="2423160"/>
            <a:ext cx="3108960" cy="274320"/>
          </a:xfrm>
          <a:prstGeom prst="rect">
            <a:avLst/>
          </a:prstGeom>
          <a:solidFill>
            <a:srgbClr val="F2F2F2"/>
          </a:solidFill>
          <a:ln w="12700">
            <a:solidFill>
              <a:srgbClr val="000000"/>
            </a:solidFill>
            <a:prstDash val="solid"/>
          </a:ln>
        </p:spPr>
        <p:txBody>
          <a:bodyPr wrap="square" lIns="76200" tIns="76200" rIns="76200" bIns="76200" rtlCol="0" anchor="ctr"/>
          <a:lstStyle/>
          <a:p>
            <a:pPr algn="l" indent="0" marL="0">
              <a:buNone/>
            </a:pPr>
            <a:r>
              <a:rPr lang="en-US" sz="1100" b="1" dirty="0">
                <a:solidFill>
                  <a:srgbClr val="000000"/>
                </a:solidFill>
                <a:latin typeface="Calibri" pitchFamily="34" charset="0"/>
                <a:ea typeface="Calibri" pitchFamily="34" charset="-122"/>
                <a:cs typeface="Calibri" pitchFamily="34" charset="-120"/>
              </a:rPr>
              <a:t>Work package</a:t>
            </a:r>
            <a:endParaRPr lang="en-US" sz="1100" dirty="0"/>
          </a:p>
        </p:txBody>
      </p:sp>
      <p:sp>
        <p:nvSpPr>
          <p:cNvPr id="16" name="Text 14"/>
          <p:cNvSpPr txBox="1"/>
          <p:nvPr/>
        </p:nvSpPr>
        <p:spPr>
          <a:xfrm>
            <a:off x="3703320" y="2423160"/>
            <a:ext cx="3950208" cy="274320"/>
          </a:xfrm>
          <a:prstGeom prst="rect">
            <a:avLst/>
          </a:prstGeom>
          <a:solidFill>
            <a:srgbClr val="F2F2F2"/>
          </a:solidFill>
          <a:ln w="12700">
            <a:solidFill>
              <a:srgbClr val="000000"/>
            </a:solidFill>
            <a:prstDash val="solid"/>
          </a:ln>
        </p:spPr>
        <p:txBody>
          <a:bodyPr wrap="square" lIns="50800" tIns="50800" rIns="50800" bIns="5080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Stage 3 (assumed W1-W6)</a:t>
            </a:r>
            <a:endParaRPr lang="en-US" sz="1100" dirty="0"/>
          </a:p>
        </p:txBody>
      </p:sp>
      <p:sp>
        <p:nvSpPr>
          <p:cNvPr id="17" name="Text 15"/>
          <p:cNvSpPr txBox="1"/>
          <p:nvPr/>
        </p:nvSpPr>
        <p:spPr>
          <a:xfrm>
            <a:off x="7653528" y="2423160"/>
            <a:ext cx="3950208" cy="274320"/>
          </a:xfrm>
          <a:prstGeom prst="rect">
            <a:avLst/>
          </a:prstGeom>
          <a:solidFill>
            <a:srgbClr val="F2F2F2"/>
          </a:solidFill>
          <a:ln w="12700">
            <a:solidFill>
              <a:srgbClr val="000000"/>
            </a:solidFill>
            <a:prstDash val="solid"/>
          </a:ln>
        </p:spPr>
        <p:txBody>
          <a:bodyPr wrap="square" lIns="50800" tIns="50800" rIns="50800" bIns="5080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Stage 4 (assumed W7-W12)</a:t>
            </a:r>
            <a:endParaRPr lang="en-US" sz="1100" dirty="0"/>
          </a:p>
        </p:txBody>
      </p:sp>
      <p:sp>
        <p:nvSpPr>
          <p:cNvPr id="18" name="Text 16"/>
          <p:cNvSpPr txBox="1"/>
          <p:nvPr/>
        </p:nvSpPr>
        <p:spPr>
          <a:xfrm>
            <a:off x="3703320"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W1</a:t>
            </a:r>
            <a:endParaRPr lang="en-US" sz="1000" dirty="0"/>
          </a:p>
        </p:txBody>
      </p:sp>
      <p:sp>
        <p:nvSpPr>
          <p:cNvPr id="19" name="Text 17"/>
          <p:cNvSpPr txBox="1"/>
          <p:nvPr/>
        </p:nvSpPr>
        <p:spPr>
          <a:xfrm>
            <a:off x="4361688"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W2</a:t>
            </a:r>
            <a:endParaRPr lang="en-US" sz="1000" dirty="0"/>
          </a:p>
        </p:txBody>
      </p:sp>
      <p:sp>
        <p:nvSpPr>
          <p:cNvPr id="20" name="Text 18"/>
          <p:cNvSpPr txBox="1"/>
          <p:nvPr/>
        </p:nvSpPr>
        <p:spPr>
          <a:xfrm>
            <a:off x="5020056"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W3</a:t>
            </a:r>
            <a:endParaRPr lang="en-US" sz="1000" dirty="0"/>
          </a:p>
        </p:txBody>
      </p:sp>
      <p:sp>
        <p:nvSpPr>
          <p:cNvPr id="21" name="Text 19"/>
          <p:cNvSpPr txBox="1"/>
          <p:nvPr/>
        </p:nvSpPr>
        <p:spPr>
          <a:xfrm>
            <a:off x="5678424"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W4</a:t>
            </a:r>
            <a:endParaRPr lang="en-US" sz="1000" dirty="0"/>
          </a:p>
        </p:txBody>
      </p:sp>
      <p:sp>
        <p:nvSpPr>
          <p:cNvPr id="22" name="Text 20"/>
          <p:cNvSpPr txBox="1"/>
          <p:nvPr/>
        </p:nvSpPr>
        <p:spPr>
          <a:xfrm>
            <a:off x="6336792"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W5</a:t>
            </a:r>
            <a:endParaRPr lang="en-US" sz="1000" dirty="0"/>
          </a:p>
        </p:txBody>
      </p:sp>
      <p:sp>
        <p:nvSpPr>
          <p:cNvPr id="23" name="Text 21"/>
          <p:cNvSpPr txBox="1"/>
          <p:nvPr/>
        </p:nvSpPr>
        <p:spPr>
          <a:xfrm>
            <a:off x="6995160"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W6</a:t>
            </a:r>
            <a:endParaRPr lang="en-US" sz="1000" dirty="0"/>
          </a:p>
        </p:txBody>
      </p:sp>
      <p:sp>
        <p:nvSpPr>
          <p:cNvPr id="24" name="Text 22"/>
          <p:cNvSpPr txBox="1"/>
          <p:nvPr/>
        </p:nvSpPr>
        <p:spPr>
          <a:xfrm>
            <a:off x="7653528"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W7</a:t>
            </a:r>
            <a:endParaRPr lang="en-US" sz="1000" dirty="0"/>
          </a:p>
        </p:txBody>
      </p:sp>
      <p:sp>
        <p:nvSpPr>
          <p:cNvPr id="25" name="Text 23"/>
          <p:cNvSpPr txBox="1"/>
          <p:nvPr/>
        </p:nvSpPr>
        <p:spPr>
          <a:xfrm>
            <a:off x="8311896"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W8</a:t>
            </a:r>
            <a:endParaRPr lang="en-US" sz="1000" dirty="0"/>
          </a:p>
        </p:txBody>
      </p:sp>
      <p:sp>
        <p:nvSpPr>
          <p:cNvPr id="26" name="Text 24"/>
          <p:cNvSpPr txBox="1"/>
          <p:nvPr/>
        </p:nvSpPr>
        <p:spPr>
          <a:xfrm>
            <a:off x="8970264"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W9</a:t>
            </a:r>
            <a:endParaRPr lang="en-US" sz="1000" dirty="0"/>
          </a:p>
        </p:txBody>
      </p:sp>
      <p:sp>
        <p:nvSpPr>
          <p:cNvPr id="27" name="Text 25"/>
          <p:cNvSpPr txBox="1"/>
          <p:nvPr/>
        </p:nvSpPr>
        <p:spPr>
          <a:xfrm>
            <a:off x="9628632"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W10</a:t>
            </a:r>
            <a:endParaRPr lang="en-US" sz="1000" dirty="0"/>
          </a:p>
        </p:txBody>
      </p:sp>
      <p:sp>
        <p:nvSpPr>
          <p:cNvPr id="28" name="Text 26"/>
          <p:cNvSpPr txBox="1"/>
          <p:nvPr/>
        </p:nvSpPr>
        <p:spPr>
          <a:xfrm>
            <a:off x="10287000"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W11</a:t>
            </a:r>
            <a:endParaRPr lang="en-US" sz="1000" dirty="0"/>
          </a:p>
        </p:txBody>
      </p:sp>
      <p:sp>
        <p:nvSpPr>
          <p:cNvPr id="29" name="Text 27"/>
          <p:cNvSpPr txBox="1"/>
          <p:nvPr/>
        </p:nvSpPr>
        <p:spPr>
          <a:xfrm>
            <a:off x="10945368" y="2697480"/>
            <a:ext cx="658368" cy="237744"/>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W12</a:t>
            </a:r>
            <a:endParaRPr lang="en-US" sz="1000" dirty="0"/>
          </a:p>
        </p:txBody>
      </p:sp>
      <p:sp>
        <p:nvSpPr>
          <p:cNvPr id="30" name="Text 28"/>
          <p:cNvSpPr txBox="1"/>
          <p:nvPr/>
        </p:nvSpPr>
        <p:spPr>
          <a:xfrm>
            <a:off x="594360" y="293522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Scaffold, CI, database baseline</a:t>
            </a:r>
            <a:endParaRPr lang="en-US" sz="1100" dirty="0"/>
          </a:p>
        </p:txBody>
      </p:sp>
      <p:sp>
        <p:nvSpPr>
          <p:cNvPr id="31" name="Text 29"/>
          <p:cNvSpPr txBox="1"/>
          <p:nvPr/>
        </p:nvSpPr>
        <p:spPr>
          <a:xfrm>
            <a:off x="3703320"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2" name="Text 30"/>
          <p:cNvSpPr txBox="1"/>
          <p:nvPr/>
        </p:nvSpPr>
        <p:spPr>
          <a:xfrm>
            <a:off x="4361688"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3" name="Text 31"/>
          <p:cNvSpPr txBox="1"/>
          <p:nvPr/>
        </p:nvSpPr>
        <p:spPr>
          <a:xfrm>
            <a:off x="5020056"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4" name="Text 32"/>
          <p:cNvSpPr txBox="1"/>
          <p:nvPr/>
        </p:nvSpPr>
        <p:spPr>
          <a:xfrm>
            <a:off x="5678424"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5" name="Text 33"/>
          <p:cNvSpPr txBox="1"/>
          <p:nvPr/>
        </p:nvSpPr>
        <p:spPr>
          <a:xfrm>
            <a:off x="6336792"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6" name="Text 34"/>
          <p:cNvSpPr txBox="1"/>
          <p:nvPr/>
        </p:nvSpPr>
        <p:spPr>
          <a:xfrm>
            <a:off x="6995160"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7" name="Text 35"/>
          <p:cNvSpPr txBox="1"/>
          <p:nvPr/>
        </p:nvSpPr>
        <p:spPr>
          <a:xfrm>
            <a:off x="7653528"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8" name="Text 36"/>
          <p:cNvSpPr txBox="1"/>
          <p:nvPr/>
        </p:nvSpPr>
        <p:spPr>
          <a:xfrm>
            <a:off x="8311896"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9" name="Text 37"/>
          <p:cNvSpPr txBox="1"/>
          <p:nvPr/>
        </p:nvSpPr>
        <p:spPr>
          <a:xfrm>
            <a:off x="8970264"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0" name="Text 38"/>
          <p:cNvSpPr txBox="1"/>
          <p:nvPr/>
        </p:nvSpPr>
        <p:spPr>
          <a:xfrm>
            <a:off x="9628632"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1" name="Text 39"/>
          <p:cNvSpPr txBox="1"/>
          <p:nvPr/>
        </p:nvSpPr>
        <p:spPr>
          <a:xfrm>
            <a:off x="10287000"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2" name="Text 40"/>
          <p:cNvSpPr txBox="1"/>
          <p:nvPr/>
        </p:nvSpPr>
        <p:spPr>
          <a:xfrm>
            <a:off x="10945368" y="29352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3" name="Text 41"/>
          <p:cNvSpPr txBox="1"/>
          <p:nvPr/>
        </p:nvSpPr>
        <p:spPr>
          <a:xfrm>
            <a:off x="3739896" y="3008376"/>
            <a:ext cx="1243584"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44" name="Text 42"/>
          <p:cNvSpPr txBox="1"/>
          <p:nvPr/>
        </p:nvSpPr>
        <p:spPr>
          <a:xfrm>
            <a:off x="594360" y="330098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Identity, workspaces, roles, tenant tests</a:t>
            </a:r>
            <a:endParaRPr lang="en-US" sz="1100" dirty="0"/>
          </a:p>
        </p:txBody>
      </p:sp>
      <p:sp>
        <p:nvSpPr>
          <p:cNvPr id="45" name="Text 43"/>
          <p:cNvSpPr txBox="1"/>
          <p:nvPr/>
        </p:nvSpPr>
        <p:spPr>
          <a:xfrm>
            <a:off x="3703320"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6" name="Text 44"/>
          <p:cNvSpPr txBox="1"/>
          <p:nvPr/>
        </p:nvSpPr>
        <p:spPr>
          <a:xfrm>
            <a:off x="4361688"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7" name="Text 45"/>
          <p:cNvSpPr txBox="1"/>
          <p:nvPr/>
        </p:nvSpPr>
        <p:spPr>
          <a:xfrm>
            <a:off x="5020056"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8" name="Text 46"/>
          <p:cNvSpPr txBox="1"/>
          <p:nvPr/>
        </p:nvSpPr>
        <p:spPr>
          <a:xfrm>
            <a:off x="5678424"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9" name="Text 47"/>
          <p:cNvSpPr txBox="1"/>
          <p:nvPr/>
        </p:nvSpPr>
        <p:spPr>
          <a:xfrm>
            <a:off x="6336792"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0" name="Text 48"/>
          <p:cNvSpPr txBox="1"/>
          <p:nvPr/>
        </p:nvSpPr>
        <p:spPr>
          <a:xfrm>
            <a:off x="6995160"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1" name="Text 49"/>
          <p:cNvSpPr txBox="1"/>
          <p:nvPr/>
        </p:nvSpPr>
        <p:spPr>
          <a:xfrm>
            <a:off x="7653528"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2" name="Text 50"/>
          <p:cNvSpPr txBox="1"/>
          <p:nvPr/>
        </p:nvSpPr>
        <p:spPr>
          <a:xfrm>
            <a:off x="8311896"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3" name="Text 51"/>
          <p:cNvSpPr txBox="1"/>
          <p:nvPr/>
        </p:nvSpPr>
        <p:spPr>
          <a:xfrm>
            <a:off x="8970264"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4" name="Text 52"/>
          <p:cNvSpPr txBox="1"/>
          <p:nvPr/>
        </p:nvSpPr>
        <p:spPr>
          <a:xfrm>
            <a:off x="9628632"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5" name="Text 53"/>
          <p:cNvSpPr txBox="1"/>
          <p:nvPr/>
        </p:nvSpPr>
        <p:spPr>
          <a:xfrm>
            <a:off x="10287000"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6" name="Text 54"/>
          <p:cNvSpPr txBox="1"/>
          <p:nvPr/>
        </p:nvSpPr>
        <p:spPr>
          <a:xfrm>
            <a:off x="10945368" y="33009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57" name="Text 55"/>
          <p:cNvSpPr txBox="1"/>
          <p:nvPr/>
        </p:nvSpPr>
        <p:spPr>
          <a:xfrm>
            <a:off x="4398264" y="3374136"/>
            <a:ext cx="1243584"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58" name="Text 56"/>
          <p:cNvSpPr txBox="1"/>
          <p:nvPr/>
        </p:nvSpPr>
        <p:spPr>
          <a:xfrm>
            <a:off x="594360" y="366674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Assets, locations, lifecycle</a:t>
            </a:r>
            <a:endParaRPr lang="en-US" sz="1100" dirty="0"/>
          </a:p>
        </p:txBody>
      </p:sp>
      <p:sp>
        <p:nvSpPr>
          <p:cNvPr id="59" name="Text 57"/>
          <p:cNvSpPr txBox="1"/>
          <p:nvPr/>
        </p:nvSpPr>
        <p:spPr>
          <a:xfrm>
            <a:off x="3703320"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0" name="Text 58"/>
          <p:cNvSpPr txBox="1"/>
          <p:nvPr/>
        </p:nvSpPr>
        <p:spPr>
          <a:xfrm>
            <a:off x="4361688"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1" name="Text 59"/>
          <p:cNvSpPr txBox="1"/>
          <p:nvPr/>
        </p:nvSpPr>
        <p:spPr>
          <a:xfrm>
            <a:off x="5020056"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2" name="Text 60"/>
          <p:cNvSpPr txBox="1"/>
          <p:nvPr/>
        </p:nvSpPr>
        <p:spPr>
          <a:xfrm>
            <a:off x="5678424"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3" name="Text 61"/>
          <p:cNvSpPr txBox="1"/>
          <p:nvPr/>
        </p:nvSpPr>
        <p:spPr>
          <a:xfrm>
            <a:off x="6336792"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4" name="Text 62"/>
          <p:cNvSpPr txBox="1"/>
          <p:nvPr/>
        </p:nvSpPr>
        <p:spPr>
          <a:xfrm>
            <a:off x="6995160"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5" name="Text 63"/>
          <p:cNvSpPr txBox="1"/>
          <p:nvPr/>
        </p:nvSpPr>
        <p:spPr>
          <a:xfrm>
            <a:off x="7653528"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6" name="Text 64"/>
          <p:cNvSpPr txBox="1"/>
          <p:nvPr/>
        </p:nvSpPr>
        <p:spPr>
          <a:xfrm>
            <a:off x="8311896"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7" name="Text 65"/>
          <p:cNvSpPr txBox="1"/>
          <p:nvPr/>
        </p:nvSpPr>
        <p:spPr>
          <a:xfrm>
            <a:off x="8970264"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8" name="Text 66"/>
          <p:cNvSpPr txBox="1"/>
          <p:nvPr/>
        </p:nvSpPr>
        <p:spPr>
          <a:xfrm>
            <a:off x="9628632"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69" name="Text 67"/>
          <p:cNvSpPr txBox="1"/>
          <p:nvPr/>
        </p:nvSpPr>
        <p:spPr>
          <a:xfrm>
            <a:off x="10287000"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0" name="Text 68"/>
          <p:cNvSpPr txBox="1"/>
          <p:nvPr/>
        </p:nvSpPr>
        <p:spPr>
          <a:xfrm>
            <a:off x="10945368" y="36667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1" name="Text 69"/>
          <p:cNvSpPr txBox="1"/>
          <p:nvPr/>
        </p:nvSpPr>
        <p:spPr>
          <a:xfrm>
            <a:off x="5056632" y="3739896"/>
            <a:ext cx="1243584"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72" name="Text 70"/>
          <p:cNvSpPr txBox="1"/>
          <p:nvPr/>
        </p:nvSpPr>
        <p:spPr>
          <a:xfrm>
            <a:off x="594360" y="403250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Observations, health and growth, state</a:t>
            </a:r>
            <a:endParaRPr lang="en-US" sz="1100" dirty="0"/>
          </a:p>
        </p:txBody>
      </p:sp>
      <p:sp>
        <p:nvSpPr>
          <p:cNvPr id="73" name="Text 71"/>
          <p:cNvSpPr txBox="1"/>
          <p:nvPr/>
        </p:nvSpPr>
        <p:spPr>
          <a:xfrm>
            <a:off x="3703320"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4" name="Text 72"/>
          <p:cNvSpPr txBox="1"/>
          <p:nvPr/>
        </p:nvSpPr>
        <p:spPr>
          <a:xfrm>
            <a:off x="4361688"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5" name="Text 73"/>
          <p:cNvSpPr txBox="1"/>
          <p:nvPr/>
        </p:nvSpPr>
        <p:spPr>
          <a:xfrm>
            <a:off x="5020056"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6" name="Text 74"/>
          <p:cNvSpPr txBox="1"/>
          <p:nvPr/>
        </p:nvSpPr>
        <p:spPr>
          <a:xfrm>
            <a:off x="5678424"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7" name="Text 75"/>
          <p:cNvSpPr txBox="1"/>
          <p:nvPr/>
        </p:nvSpPr>
        <p:spPr>
          <a:xfrm>
            <a:off x="6336792"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8" name="Text 76"/>
          <p:cNvSpPr txBox="1"/>
          <p:nvPr/>
        </p:nvSpPr>
        <p:spPr>
          <a:xfrm>
            <a:off x="6995160"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79" name="Text 77"/>
          <p:cNvSpPr txBox="1"/>
          <p:nvPr/>
        </p:nvSpPr>
        <p:spPr>
          <a:xfrm>
            <a:off x="7653528"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0" name="Text 78"/>
          <p:cNvSpPr txBox="1"/>
          <p:nvPr/>
        </p:nvSpPr>
        <p:spPr>
          <a:xfrm>
            <a:off x="8311896"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1" name="Text 79"/>
          <p:cNvSpPr txBox="1"/>
          <p:nvPr/>
        </p:nvSpPr>
        <p:spPr>
          <a:xfrm>
            <a:off x="8970264"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2" name="Text 80"/>
          <p:cNvSpPr txBox="1"/>
          <p:nvPr/>
        </p:nvSpPr>
        <p:spPr>
          <a:xfrm>
            <a:off x="9628632"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3" name="Text 81"/>
          <p:cNvSpPr txBox="1"/>
          <p:nvPr/>
        </p:nvSpPr>
        <p:spPr>
          <a:xfrm>
            <a:off x="10287000"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4" name="Text 82"/>
          <p:cNvSpPr txBox="1"/>
          <p:nvPr/>
        </p:nvSpPr>
        <p:spPr>
          <a:xfrm>
            <a:off x="10945368" y="40325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5" name="Text 83"/>
          <p:cNvSpPr txBox="1"/>
          <p:nvPr/>
        </p:nvSpPr>
        <p:spPr>
          <a:xfrm>
            <a:off x="5715000" y="4105656"/>
            <a:ext cx="1243584"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86" name="Text 84"/>
          <p:cNvSpPr txBox="1"/>
          <p:nvPr/>
        </p:nvSpPr>
        <p:spPr>
          <a:xfrm>
            <a:off x="594360" y="439826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Issues and tasks workflow</a:t>
            </a:r>
            <a:endParaRPr lang="en-US" sz="1100" dirty="0"/>
          </a:p>
        </p:txBody>
      </p:sp>
      <p:sp>
        <p:nvSpPr>
          <p:cNvPr id="87" name="Text 85"/>
          <p:cNvSpPr txBox="1"/>
          <p:nvPr/>
        </p:nvSpPr>
        <p:spPr>
          <a:xfrm>
            <a:off x="3703320"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8" name="Text 86"/>
          <p:cNvSpPr txBox="1"/>
          <p:nvPr/>
        </p:nvSpPr>
        <p:spPr>
          <a:xfrm>
            <a:off x="4361688"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89" name="Text 87"/>
          <p:cNvSpPr txBox="1"/>
          <p:nvPr/>
        </p:nvSpPr>
        <p:spPr>
          <a:xfrm>
            <a:off x="5020056"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0" name="Text 88"/>
          <p:cNvSpPr txBox="1"/>
          <p:nvPr/>
        </p:nvSpPr>
        <p:spPr>
          <a:xfrm>
            <a:off x="5678424"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1" name="Text 89"/>
          <p:cNvSpPr txBox="1"/>
          <p:nvPr/>
        </p:nvSpPr>
        <p:spPr>
          <a:xfrm>
            <a:off x="6336792"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2" name="Text 90"/>
          <p:cNvSpPr txBox="1"/>
          <p:nvPr/>
        </p:nvSpPr>
        <p:spPr>
          <a:xfrm>
            <a:off x="6995160"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3" name="Text 91"/>
          <p:cNvSpPr txBox="1"/>
          <p:nvPr/>
        </p:nvSpPr>
        <p:spPr>
          <a:xfrm>
            <a:off x="7653528"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4" name="Text 92"/>
          <p:cNvSpPr txBox="1"/>
          <p:nvPr/>
        </p:nvSpPr>
        <p:spPr>
          <a:xfrm>
            <a:off x="8311896"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5" name="Text 93"/>
          <p:cNvSpPr txBox="1"/>
          <p:nvPr/>
        </p:nvSpPr>
        <p:spPr>
          <a:xfrm>
            <a:off x="8970264"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6" name="Text 94"/>
          <p:cNvSpPr txBox="1"/>
          <p:nvPr/>
        </p:nvSpPr>
        <p:spPr>
          <a:xfrm>
            <a:off x="9628632"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7" name="Text 95"/>
          <p:cNvSpPr txBox="1"/>
          <p:nvPr/>
        </p:nvSpPr>
        <p:spPr>
          <a:xfrm>
            <a:off x="10287000"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8" name="Text 96"/>
          <p:cNvSpPr txBox="1"/>
          <p:nvPr/>
        </p:nvSpPr>
        <p:spPr>
          <a:xfrm>
            <a:off x="10945368" y="439826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99" name="Text 97"/>
          <p:cNvSpPr txBox="1"/>
          <p:nvPr/>
        </p:nvSpPr>
        <p:spPr>
          <a:xfrm>
            <a:off x="6373368" y="4471416"/>
            <a:ext cx="1901952"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100" name="Text 98"/>
          <p:cNvSpPr txBox="1"/>
          <p:nvPr/>
        </p:nvSpPr>
        <p:spPr>
          <a:xfrm>
            <a:off x="594360" y="476402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Botanical Operations Agent (rules)</a:t>
            </a:r>
            <a:endParaRPr lang="en-US" sz="1100" dirty="0"/>
          </a:p>
        </p:txBody>
      </p:sp>
      <p:sp>
        <p:nvSpPr>
          <p:cNvPr id="101" name="Text 99"/>
          <p:cNvSpPr txBox="1"/>
          <p:nvPr/>
        </p:nvSpPr>
        <p:spPr>
          <a:xfrm>
            <a:off x="3703320"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2" name="Text 100"/>
          <p:cNvSpPr txBox="1"/>
          <p:nvPr/>
        </p:nvSpPr>
        <p:spPr>
          <a:xfrm>
            <a:off x="4361688"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3" name="Text 101"/>
          <p:cNvSpPr txBox="1"/>
          <p:nvPr/>
        </p:nvSpPr>
        <p:spPr>
          <a:xfrm>
            <a:off x="5020056"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4" name="Text 102"/>
          <p:cNvSpPr txBox="1"/>
          <p:nvPr/>
        </p:nvSpPr>
        <p:spPr>
          <a:xfrm>
            <a:off x="5678424"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5" name="Text 103"/>
          <p:cNvSpPr txBox="1"/>
          <p:nvPr/>
        </p:nvSpPr>
        <p:spPr>
          <a:xfrm>
            <a:off x="6336792"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6" name="Text 104"/>
          <p:cNvSpPr txBox="1"/>
          <p:nvPr/>
        </p:nvSpPr>
        <p:spPr>
          <a:xfrm>
            <a:off x="6995160"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7" name="Text 105"/>
          <p:cNvSpPr txBox="1"/>
          <p:nvPr/>
        </p:nvSpPr>
        <p:spPr>
          <a:xfrm>
            <a:off x="7653528"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8" name="Text 106"/>
          <p:cNvSpPr txBox="1"/>
          <p:nvPr/>
        </p:nvSpPr>
        <p:spPr>
          <a:xfrm>
            <a:off x="8311896"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09" name="Text 107"/>
          <p:cNvSpPr txBox="1"/>
          <p:nvPr/>
        </p:nvSpPr>
        <p:spPr>
          <a:xfrm>
            <a:off x="8970264"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0" name="Text 108"/>
          <p:cNvSpPr txBox="1"/>
          <p:nvPr/>
        </p:nvSpPr>
        <p:spPr>
          <a:xfrm>
            <a:off x="9628632"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1" name="Text 109"/>
          <p:cNvSpPr txBox="1"/>
          <p:nvPr/>
        </p:nvSpPr>
        <p:spPr>
          <a:xfrm>
            <a:off x="10287000"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2" name="Text 110"/>
          <p:cNvSpPr txBox="1"/>
          <p:nvPr/>
        </p:nvSpPr>
        <p:spPr>
          <a:xfrm>
            <a:off x="10945368" y="476402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3" name="Text 111"/>
          <p:cNvSpPr txBox="1"/>
          <p:nvPr/>
        </p:nvSpPr>
        <p:spPr>
          <a:xfrm>
            <a:off x="7031736" y="4837176"/>
            <a:ext cx="1901952"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114" name="Text 112"/>
          <p:cNvSpPr txBox="1"/>
          <p:nvPr/>
        </p:nvSpPr>
        <p:spPr>
          <a:xfrm>
            <a:off x="594360" y="512978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Map and dashboards (both modes)</a:t>
            </a:r>
            <a:endParaRPr lang="en-US" sz="1100" dirty="0"/>
          </a:p>
        </p:txBody>
      </p:sp>
      <p:sp>
        <p:nvSpPr>
          <p:cNvPr id="115" name="Text 113"/>
          <p:cNvSpPr txBox="1"/>
          <p:nvPr/>
        </p:nvSpPr>
        <p:spPr>
          <a:xfrm>
            <a:off x="3703320"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6" name="Text 114"/>
          <p:cNvSpPr txBox="1"/>
          <p:nvPr/>
        </p:nvSpPr>
        <p:spPr>
          <a:xfrm>
            <a:off x="4361688"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7" name="Text 115"/>
          <p:cNvSpPr txBox="1"/>
          <p:nvPr/>
        </p:nvSpPr>
        <p:spPr>
          <a:xfrm>
            <a:off x="5020056"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8" name="Text 116"/>
          <p:cNvSpPr txBox="1"/>
          <p:nvPr/>
        </p:nvSpPr>
        <p:spPr>
          <a:xfrm>
            <a:off x="5678424"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19" name="Text 117"/>
          <p:cNvSpPr txBox="1"/>
          <p:nvPr/>
        </p:nvSpPr>
        <p:spPr>
          <a:xfrm>
            <a:off x="6336792"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0" name="Text 118"/>
          <p:cNvSpPr txBox="1"/>
          <p:nvPr/>
        </p:nvSpPr>
        <p:spPr>
          <a:xfrm>
            <a:off x="6995160"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1" name="Text 119"/>
          <p:cNvSpPr txBox="1"/>
          <p:nvPr/>
        </p:nvSpPr>
        <p:spPr>
          <a:xfrm>
            <a:off x="7653528"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2" name="Text 120"/>
          <p:cNvSpPr txBox="1"/>
          <p:nvPr/>
        </p:nvSpPr>
        <p:spPr>
          <a:xfrm>
            <a:off x="8311896"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3" name="Text 121"/>
          <p:cNvSpPr txBox="1"/>
          <p:nvPr/>
        </p:nvSpPr>
        <p:spPr>
          <a:xfrm>
            <a:off x="8970264"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4" name="Text 122"/>
          <p:cNvSpPr txBox="1"/>
          <p:nvPr/>
        </p:nvSpPr>
        <p:spPr>
          <a:xfrm>
            <a:off x="9628632"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5" name="Text 123"/>
          <p:cNvSpPr txBox="1"/>
          <p:nvPr/>
        </p:nvSpPr>
        <p:spPr>
          <a:xfrm>
            <a:off x="10287000"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6" name="Text 124"/>
          <p:cNvSpPr txBox="1"/>
          <p:nvPr/>
        </p:nvSpPr>
        <p:spPr>
          <a:xfrm>
            <a:off x="10945368" y="512978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27" name="Text 125"/>
          <p:cNvSpPr txBox="1"/>
          <p:nvPr/>
        </p:nvSpPr>
        <p:spPr>
          <a:xfrm>
            <a:off x="7690104" y="5202936"/>
            <a:ext cx="1901952"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128" name="Text 126"/>
          <p:cNvSpPr txBox="1"/>
          <p:nvPr/>
        </p:nvSpPr>
        <p:spPr>
          <a:xfrm>
            <a:off x="594360" y="549554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Reports, future-feature surfaces, polish</a:t>
            </a:r>
            <a:endParaRPr lang="en-US" sz="1100" dirty="0"/>
          </a:p>
        </p:txBody>
      </p:sp>
      <p:sp>
        <p:nvSpPr>
          <p:cNvPr id="129" name="Text 127"/>
          <p:cNvSpPr txBox="1"/>
          <p:nvPr/>
        </p:nvSpPr>
        <p:spPr>
          <a:xfrm>
            <a:off x="3703320"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0" name="Text 128"/>
          <p:cNvSpPr txBox="1"/>
          <p:nvPr/>
        </p:nvSpPr>
        <p:spPr>
          <a:xfrm>
            <a:off x="4361688"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1" name="Text 129"/>
          <p:cNvSpPr txBox="1"/>
          <p:nvPr/>
        </p:nvSpPr>
        <p:spPr>
          <a:xfrm>
            <a:off x="5020056"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2" name="Text 130"/>
          <p:cNvSpPr txBox="1"/>
          <p:nvPr/>
        </p:nvSpPr>
        <p:spPr>
          <a:xfrm>
            <a:off x="5678424"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3" name="Text 131"/>
          <p:cNvSpPr txBox="1"/>
          <p:nvPr/>
        </p:nvSpPr>
        <p:spPr>
          <a:xfrm>
            <a:off x="6336792"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4" name="Text 132"/>
          <p:cNvSpPr txBox="1"/>
          <p:nvPr/>
        </p:nvSpPr>
        <p:spPr>
          <a:xfrm>
            <a:off x="6995160"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5" name="Text 133"/>
          <p:cNvSpPr txBox="1"/>
          <p:nvPr/>
        </p:nvSpPr>
        <p:spPr>
          <a:xfrm>
            <a:off x="7653528"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6" name="Text 134"/>
          <p:cNvSpPr txBox="1"/>
          <p:nvPr/>
        </p:nvSpPr>
        <p:spPr>
          <a:xfrm>
            <a:off x="8311896"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7" name="Text 135"/>
          <p:cNvSpPr txBox="1"/>
          <p:nvPr/>
        </p:nvSpPr>
        <p:spPr>
          <a:xfrm>
            <a:off x="8970264"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8" name="Text 136"/>
          <p:cNvSpPr txBox="1"/>
          <p:nvPr/>
        </p:nvSpPr>
        <p:spPr>
          <a:xfrm>
            <a:off x="9628632"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39" name="Text 137"/>
          <p:cNvSpPr txBox="1"/>
          <p:nvPr/>
        </p:nvSpPr>
        <p:spPr>
          <a:xfrm>
            <a:off x="10287000"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0" name="Text 138"/>
          <p:cNvSpPr txBox="1"/>
          <p:nvPr/>
        </p:nvSpPr>
        <p:spPr>
          <a:xfrm>
            <a:off x="10945368" y="549554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1" name="Text 139"/>
          <p:cNvSpPr txBox="1"/>
          <p:nvPr/>
        </p:nvSpPr>
        <p:spPr>
          <a:xfrm>
            <a:off x="9006840" y="5568696"/>
            <a:ext cx="1901952"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142" name="Text 140"/>
          <p:cNvSpPr txBox="1"/>
          <p:nvPr/>
        </p:nvSpPr>
        <p:spPr>
          <a:xfrm>
            <a:off x="594360" y="5861304"/>
            <a:ext cx="3108960" cy="365760"/>
          </a:xfrm>
          <a:prstGeom prst="rect">
            <a:avLst/>
          </a:prstGeom>
          <a:solidFill>
            <a:srgbClr val="FFFFFF"/>
          </a:solidFill>
          <a:ln w="6350">
            <a:solidFill>
              <a:srgbClr val="A6A6A6"/>
            </a:solidFill>
            <a:prstDash val="solid"/>
          </a:ln>
        </p:spPr>
        <p:txBody>
          <a:bodyPr wrap="square" lIns="76200" tIns="76200" rIns="76200" bIns="7620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Hardening, end-to-end tests, deployment</a:t>
            </a:r>
            <a:endParaRPr lang="en-US" sz="1100" dirty="0"/>
          </a:p>
        </p:txBody>
      </p:sp>
      <p:sp>
        <p:nvSpPr>
          <p:cNvPr id="143" name="Text 141"/>
          <p:cNvSpPr txBox="1"/>
          <p:nvPr/>
        </p:nvSpPr>
        <p:spPr>
          <a:xfrm>
            <a:off x="3703320"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4" name="Text 142"/>
          <p:cNvSpPr txBox="1"/>
          <p:nvPr/>
        </p:nvSpPr>
        <p:spPr>
          <a:xfrm>
            <a:off x="4361688"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5" name="Text 143"/>
          <p:cNvSpPr txBox="1"/>
          <p:nvPr/>
        </p:nvSpPr>
        <p:spPr>
          <a:xfrm>
            <a:off x="5020056"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6" name="Text 144"/>
          <p:cNvSpPr txBox="1"/>
          <p:nvPr/>
        </p:nvSpPr>
        <p:spPr>
          <a:xfrm>
            <a:off x="5678424"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7" name="Text 145"/>
          <p:cNvSpPr txBox="1"/>
          <p:nvPr/>
        </p:nvSpPr>
        <p:spPr>
          <a:xfrm>
            <a:off x="6336792"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8" name="Text 146"/>
          <p:cNvSpPr txBox="1"/>
          <p:nvPr/>
        </p:nvSpPr>
        <p:spPr>
          <a:xfrm>
            <a:off x="6995160"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49" name="Text 147"/>
          <p:cNvSpPr txBox="1"/>
          <p:nvPr/>
        </p:nvSpPr>
        <p:spPr>
          <a:xfrm>
            <a:off x="7653528"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50" name="Text 148"/>
          <p:cNvSpPr txBox="1"/>
          <p:nvPr/>
        </p:nvSpPr>
        <p:spPr>
          <a:xfrm>
            <a:off x="8311896"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51" name="Text 149"/>
          <p:cNvSpPr txBox="1"/>
          <p:nvPr/>
        </p:nvSpPr>
        <p:spPr>
          <a:xfrm>
            <a:off x="8970264"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52" name="Text 150"/>
          <p:cNvSpPr txBox="1"/>
          <p:nvPr/>
        </p:nvSpPr>
        <p:spPr>
          <a:xfrm>
            <a:off x="9628632"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53" name="Text 151"/>
          <p:cNvSpPr txBox="1"/>
          <p:nvPr/>
        </p:nvSpPr>
        <p:spPr>
          <a:xfrm>
            <a:off x="10287000"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54" name="Text 152"/>
          <p:cNvSpPr txBox="1"/>
          <p:nvPr/>
        </p:nvSpPr>
        <p:spPr>
          <a:xfrm>
            <a:off x="10945368" y="5861304"/>
            <a:ext cx="658368" cy="365760"/>
          </a:xfrm>
          <a:prstGeom prst="rect">
            <a:avLst/>
          </a:prstGeom>
          <a:solidFill>
            <a:srgbClr val="FFFFFF"/>
          </a:solidFill>
          <a:ln w="6350">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155" name="Text 153"/>
          <p:cNvSpPr txBox="1"/>
          <p:nvPr/>
        </p:nvSpPr>
        <p:spPr>
          <a:xfrm>
            <a:off x="10323576" y="5934456"/>
            <a:ext cx="1243584"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156" name="Text 154"/>
          <p:cNvSpPr txBox="1"/>
          <p:nvPr/>
        </p:nvSpPr>
        <p:spPr>
          <a:xfrm>
            <a:off x="594360" y="6336792"/>
            <a:ext cx="11018520" cy="457200"/>
          </a:xfrm>
          <a:prstGeom prst="rect">
            <a:avLst/>
          </a:prstGeom>
          <a:noFill/>
          <a:ln/>
        </p:spPr>
        <p:txBody>
          <a:bodyPr wrap="square" lIns="0" tIns="0" rIns="0" bIns="0" rtlCol="0" anchor="t"/>
          <a:lstStyle/>
          <a:p>
            <a:pPr algn="l" indent="0" marL="0">
              <a:buNone/>
            </a:pPr>
            <a:r>
              <a:rPr lang="en-US" sz="1150" i="1" dirty="0">
                <a:solidFill>
                  <a:srgbClr val="595959"/>
                </a:solidFill>
                <a:latin typeface="Calibri" pitchFamily="34" charset="0"/>
                <a:ea typeface="Calibri" pitchFamily="34" charset="-122"/>
                <a:cs typeface="Calibri" pitchFamily="34" charset="-120"/>
              </a:rPr>
              <a:t>Done so far: product documentation and PRD, architecture and schema design, rules-engine proof of concept. Weeks are relative to this review; map them to the Stage 3 and 4 calendar. Member names to be filled in.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Initial/Partial Implementation (Proof of Concept)</a:t>
            </a:r>
            <a:endParaRPr lang="en-US" sz="2800" dirty="0"/>
          </a:p>
        </p:txBody>
      </p:sp>
      <p:sp>
        <p:nvSpPr>
          <p:cNvPr id="3" name="Text 1"/>
          <p:cNvSpPr txBox="1"/>
          <p:nvPr/>
        </p:nvSpPr>
        <p:spPr>
          <a:xfrm>
            <a:off x="594360" y="1051560"/>
            <a:ext cx="5943600" cy="256032"/>
          </a:xfrm>
          <a:prstGeom prst="rect">
            <a:avLst/>
          </a:prstGeom>
          <a:noFill/>
          <a:ln/>
        </p:spPr>
        <p:txBody>
          <a:bodyPr wrap="square" lIns="0" tIns="0" rIns="0" bIns="0" rtlCol="0" anchor="t"/>
          <a:lstStyle/>
          <a:p>
            <a:pPr algn="l" indent="0" marL="0">
              <a:buNone/>
            </a:pPr>
            <a:r>
              <a:rPr lang="en-US" sz="1400" b="1" dirty="0">
                <a:solidFill>
                  <a:srgbClr val="000000"/>
                </a:solidFill>
                <a:latin typeface="Calibri" pitchFamily="34" charset="0"/>
                <a:ea typeface="Calibri" pitchFamily="34" charset="-122"/>
                <a:cs typeface="Calibri" pitchFamily="34" charset="-120"/>
              </a:rPr>
              <a:t>Rules engine: real run on sample data</a:t>
            </a:r>
            <a:endParaRPr lang="en-US" sz="1400" dirty="0"/>
          </a:p>
        </p:txBody>
      </p:sp>
      <p:sp>
        <p:nvSpPr>
          <p:cNvPr id="4" name="terminal"/>
          <p:cNvSpPr txBox="1"/>
          <p:nvPr/>
        </p:nvSpPr>
        <p:spPr>
          <a:xfrm>
            <a:off x="594360" y="1371600"/>
            <a:ext cx="6126480" cy="3246120"/>
          </a:xfrm>
          <a:prstGeom prst="rect">
            <a:avLst/>
          </a:prstGeom>
          <a:solidFill>
            <a:srgbClr val="1E1E1E"/>
          </a:solidFill>
          <a:ln w="12700">
            <a:solidFill>
              <a:srgbClr val="000000"/>
            </a:solidFill>
          </a:ln>
        </p:spPr>
        <p:txBody>
          <a:bodyPr wrap="square" lIns="127000" tIns="127000" rIns="127000" bIns="127000" rtlCol="0" anchor="t"/>
          <a:lstStyle/>
          <a:p>
            <a:pPr algn="l" indent="0" marL="0">
              <a:buNone/>
            </a:pPr>
            <a:r>
              <a:rPr lang="en-US" sz="1000" dirty="0">
                <a:solidFill>
                  <a:srgbClr val="E6E6E6"/>
                </a:solidFill>
                <a:latin typeface="Courier New" pitchFamily="34" charset="0"/>
                <a:ea typeface="Courier New" pitchFamily="34" charset="-122"/>
                <a:cs typeface="Courier New" pitchFamily="34" charset="-120"/>
              </a:rPr>
              <a:t>$ python poc_run.py</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SAMPLE DATA - rules engine run @ 2026-10-06</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[MEDIUM  ] (rule) Tree #482 has not been observed for 23 days (limit 21)</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           why: last_observed_at older than 21 days</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           -&gt; propose: create task (inspect)</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[MEDIUM  ] (statistical) Neem #101 health fell 24 points in 14 days</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           why: 82 -&gt; 58 across 2 observations</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           -&gt; propose: create issue (growth_anomaly)</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[HIGH    ] (rule) 6 plants in Zone B show 'leaf_spot'</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           why: same symptom on &gt;= 5 assets in one zone</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           -&gt; propose: create issue (disease)</a:t>
            </a:r>
            <a:endParaRPr lang="en-US" sz="1000" dirty="0"/>
          </a:p>
          <a:p>
            <a:pPr algn="l" indent="0" marL="0">
              <a:buNone/>
            </a:pP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 python -m pytest -q</a:t>
            </a:r>
            <a:endParaRPr lang="en-US" sz="1000" dirty="0"/>
          </a:p>
          <a:p>
            <a:pPr algn="l" indent="0" marL="0">
              <a:buNone/>
            </a:pPr>
            <a:r>
              <a:rPr lang="en-US" sz="1000" dirty="0">
                <a:solidFill>
                  <a:srgbClr val="E6E6E6"/>
                </a:solidFill>
                <a:latin typeface="Courier New" pitchFamily="34" charset="0"/>
                <a:ea typeface="Courier New" pitchFamily="34" charset="-122"/>
                <a:cs typeface="Courier New" pitchFamily="34" charset="-120"/>
              </a:rPr>
              <a:t>5 passed in 0.02s</a:t>
            </a:r>
            <a:endParaRPr lang="en-US" sz="1000" dirty="0"/>
          </a:p>
        </p:txBody>
      </p:sp>
      <p:sp>
        <p:nvSpPr>
          <p:cNvPr id="5" name="Text 3"/>
          <p:cNvSpPr txBox="1"/>
          <p:nvPr/>
        </p:nvSpPr>
        <p:spPr>
          <a:xfrm>
            <a:off x="594360" y="4681728"/>
            <a:ext cx="6126480" cy="457200"/>
          </a:xfrm>
          <a:prstGeom prst="rect">
            <a:avLst/>
          </a:prstGeom>
          <a:noFill/>
          <a:ln/>
        </p:spPr>
        <p:txBody>
          <a:bodyPr wrap="square" lIns="0" tIns="0" rIns="0" bIns="0" rtlCol="0" anchor="t"/>
          <a:lstStyle/>
          <a:p>
            <a:pPr algn="l" indent="0" marL="0">
              <a:buNone/>
            </a:pPr>
            <a:r>
              <a:rPr lang="en-US" sz="1150" i="1" dirty="0">
                <a:solidFill>
                  <a:srgbClr val="595959"/>
                </a:solidFill>
                <a:latin typeface="Calibri" pitchFamily="34" charset="0"/>
                <a:ea typeface="Calibri" pitchFamily="34" charset="-122"/>
                <a:cs typeface="Calibri" pitchFamily="34" charset="-120"/>
              </a:rPr>
              <a:t>Tests cover boundary cases, time window, clustering and de-duplication. Input is synthetic sample data, not real observations.</a:t>
            </a:r>
            <a:endParaRPr lang="en-US" sz="1150" dirty="0"/>
          </a:p>
        </p:txBody>
      </p:sp>
      <p:sp>
        <p:nvSpPr>
          <p:cNvPr id="6" name="Text 4"/>
          <p:cNvSpPr txBox="1"/>
          <p:nvPr/>
        </p:nvSpPr>
        <p:spPr>
          <a:xfrm>
            <a:off x="6995160" y="1051560"/>
            <a:ext cx="4663440" cy="256032"/>
          </a:xfrm>
          <a:prstGeom prst="rect">
            <a:avLst/>
          </a:prstGeom>
          <a:noFill/>
          <a:ln/>
        </p:spPr>
        <p:txBody>
          <a:bodyPr wrap="square" lIns="0" tIns="0" rIns="0" bIns="0" rtlCol="0" anchor="t"/>
          <a:lstStyle/>
          <a:p>
            <a:pPr algn="l" indent="0" marL="0">
              <a:buNone/>
            </a:pPr>
            <a:r>
              <a:rPr lang="en-US" sz="1400" b="1" dirty="0">
                <a:solidFill>
                  <a:srgbClr val="000000"/>
                </a:solidFill>
                <a:latin typeface="Calibri" pitchFamily="34" charset="0"/>
                <a:ea typeface="Calibri" pitchFamily="34" charset="-122"/>
                <a:cs typeface="Calibri" pitchFamily="34" charset="-120"/>
              </a:rPr>
              <a:t>Mock UI screen (design wireframe, not running software)</a:t>
            </a:r>
            <a:endParaRPr lang="en-US" sz="1400" dirty="0"/>
          </a:p>
        </p:txBody>
      </p:sp>
      <p:sp>
        <p:nvSpPr>
          <p:cNvPr id="7" name="Text 5"/>
          <p:cNvSpPr txBox="1"/>
          <p:nvPr/>
        </p:nvSpPr>
        <p:spPr>
          <a:xfrm>
            <a:off x="6995160" y="1371600"/>
            <a:ext cx="4617720" cy="3749040"/>
          </a:xfrm>
          <a:prstGeom prst="rect">
            <a:avLst/>
          </a:prstGeom>
          <a:solidFill>
            <a:srgbClr val="FFFFFF"/>
          </a:solidFill>
          <a:ln w="15875">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8" name="Text 6"/>
          <p:cNvSpPr txBox="1"/>
          <p:nvPr/>
        </p:nvSpPr>
        <p:spPr>
          <a:xfrm>
            <a:off x="6995160" y="1371600"/>
            <a:ext cx="1371600" cy="3749040"/>
          </a:xfrm>
          <a:prstGeom prst="rect">
            <a:avLst/>
          </a:prstGeom>
          <a:solidFill>
            <a:srgbClr val="F2F2F2"/>
          </a:solidFill>
          <a:ln w="15875">
            <a:solidFill>
              <a:srgbClr val="000000"/>
            </a:solidFill>
            <a:prstDash val="solid"/>
          </a:ln>
        </p:spPr>
        <p:txBody>
          <a:bodyPr wrap="square" lIns="50800" tIns="50800" rIns="50800" bIns="50800" rtlCol="0" anchor="ctr"/>
          <a:lstStyle/>
          <a:p>
            <a:pPr algn="ctr" indent="0" marL="0">
              <a:buNone/>
            </a:pPr>
            <a:endParaRPr lang="en-US" sz="1100" dirty="0"/>
          </a:p>
        </p:txBody>
      </p:sp>
      <p:sp>
        <p:nvSpPr>
          <p:cNvPr id="9" name="Text 7"/>
          <p:cNvSpPr txBox="1"/>
          <p:nvPr/>
        </p:nvSpPr>
        <p:spPr>
          <a:xfrm>
            <a:off x="7086600" y="1444752"/>
            <a:ext cx="1234440" cy="365760"/>
          </a:xfrm>
          <a:prstGeom prst="rect">
            <a:avLst/>
          </a:prstGeom>
          <a:noFill/>
          <a:ln/>
        </p:spPr>
        <p:txBody>
          <a:bodyPr wrap="square" lIns="0" tIns="0" rIns="0" bIns="0" rtlCol="0" anchor="t"/>
          <a:lstStyle/>
          <a:p>
            <a:pPr algn="l" indent="0" marL="0">
              <a:buNone/>
            </a:pPr>
            <a:r>
              <a:rPr lang="en-US" sz="950" b="1" dirty="0">
                <a:solidFill>
                  <a:srgbClr val="000000"/>
                </a:solidFill>
                <a:latin typeface="Calibri" pitchFamily="34" charset="0"/>
                <a:ea typeface="Calibri" pitchFamily="34" charset="-122"/>
                <a:cs typeface="Calibri" pitchFamily="34" charset="-120"/>
              </a:rPr>
              <a:t>WORKSPACE</a:t>
            </a:r>
            <a:endParaRPr lang="en-US" sz="950" dirty="0"/>
          </a:p>
          <a:p>
            <a:pPr algn="l" indent="0" marL="0">
              <a:buNone/>
            </a:pPr>
            <a:r>
              <a:rPr lang="en-US" sz="950" b="1" dirty="0">
                <a:solidFill>
                  <a:srgbClr val="000000"/>
                </a:solidFill>
                <a:latin typeface="Calibri" pitchFamily="34" charset="0"/>
                <a:ea typeface="Calibri" pitchFamily="34" charset="-122"/>
                <a:cs typeface="Calibri" pitchFamily="34" charset="-120"/>
              </a:rPr>
              <a:t>City Green Cover</a:t>
            </a:r>
            <a:endParaRPr lang="en-US" sz="950" dirty="0"/>
          </a:p>
        </p:txBody>
      </p:sp>
      <p:sp>
        <p:nvSpPr>
          <p:cNvPr id="10" name="Text 8"/>
          <p:cNvSpPr txBox="1"/>
          <p:nvPr/>
        </p:nvSpPr>
        <p:spPr>
          <a:xfrm>
            <a:off x="7086600" y="1938528"/>
            <a:ext cx="1234440" cy="201168"/>
          </a:xfrm>
          <a:prstGeom prst="rect">
            <a:avLst/>
          </a:prstGeom>
          <a:noFill/>
          <a:ln/>
        </p:spPr>
        <p:txBody>
          <a:bodyPr wrap="square" lIns="0" tIns="0" rIns="0" bIns="0" rtlCol="0" anchor="t"/>
          <a:lstStyle/>
          <a:p>
            <a:pPr algn="l" indent="0" marL="0">
              <a:buNone/>
            </a:pPr>
            <a:r>
              <a:rPr lang="en-US" sz="950" dirty="0">
                <a:solidFill>
                  <a:srgbClr val="000000"/>
                </a:solidFill>
                <a:latin typeface="Calibri" pitchFamily="34" charset="0"/>
                <a:ea typeface="Calibri" pitchFamily="34" charset="-122"/>
                <a:cs typeface="Calibri" pitchFamily="34" charset="-120"/>
              </a:rPr>
              <a:t>Assets</a:t>
            </a:r>
            <a:endParaRPr lang="en-US" sz="950" dirty="0"/>
          </a:p>
        </p:txBody>
      </p:sp>
      <p:sp>
        <p:nvSpPr>
          <p:cNvPr id="11" name="Text 9"/>
          <p:cNvSpPr txBox="1"/>
          <p:nvPr/>
        </p:nvSpPr>
        <p:spPr>
          <a:xfrm>
            <a:off x="7086600" y="2304288"/>
            <a:ext cx="1234440" cy="201168"/>
          </a:xfrm>
          <a:prstGeom prst="rect">
            <a:avLst/>
          </a:prstGeom>
          <a:noFill/>
          <a:ln/>
        </p:spPr>
        <p:txBody>
          <a:bodyPr wrap="square" lIns="0" tIns="0" rIns="0" bIns="0" rtlCol="0" anchor="t"/>
          <a:lstStyle/>
          <a:p>
            <a:pPr algn="l" indent="0" marL="0">
              <a:buNone/>
            </a:pPr>
            <a:r>
              <a:rPr lang="en-US" sz="950" dirty="0">
                <a:solidFill>
                  <a:srgbClr val="000000"/>
                </a:solidFill>
                <a:latin typeface="Calibri" pitchFamily="34" charset="0"/>
                <a:ea typeface="Calibri" pitchFamily="34" charset="-122"/>
                <a:cs typeface="Calibri" pitchFamily="34" charset="-120"/>
              </a:rPr>
              <a:t>Tasks · Issues</a:t>
            </a:r>
            <a:endParaRPr lang="en-US" sz="950" dirty="0"/>
          </a:p>
        </p:txBody>
      </p:sp>
      <p:sp>
        <p:nvSpPr>
          <p:cNvPr id="12" name="Text 10"/>
          <p:cNvSpPr txBox="1"/>
          <p:nvPr/>
        </p:nvSpPr>
        <p:spPr>
          <a:xfrm>
            <a:off x="7086600" y="2670048"/>
            <a:ext cx="1234440" cy="201168"/>
          </a:xfrm>
          <a:prstGeom prst="rect">
            <a:avLst/>
          </a:prstGeom>
          <a:noFill/>
          <a:ln/>
        </p:spPr>
        <p:txBody>
          <a:bodyPr wrap="square" lIns="0" tIns="0" rIns="0" bIns="0" rtlCol="0" anchor="t"/>
          <a:lstStyle/>
          <a:p>
            <a:pPr algn="l" indent="0" marL="0">
              <a:buNone/>
            </a:pPr>
            <a:r>
              <a:rPr lang="en-US" sz="950" dirty="0">
                <a:solidFill>
                  <a:srgbClr val="000000"/>
                </a:solidFill>
                <a:latin typeface="Calibri" pitchFamily="34" charset="0"/>
                <a:ea typeface="Calibri" pitchFamily="34" charset="-122"/>
                <a:cs typeface="Calibri" pitchFamily="34" charset="-120"/>
              </a:rPr>
              <a:t>Map</a:t>
            </a:r>
            <a:endParaRPr lang="en-US" sz="950" dirty="0"/>
          </a:p>
        </p:txBody>
      </p:sp>
      <p:sp>
        <p:nvSpPr>
          <p:cNvPr id="13" name="Text 11"/>
          <p:cNvSpPr txBox="1"/>
          <p:nvPr/>
        </p:nvSpPr>
        <p:spPr>
          <a:xfrm>
            <a:off x="7086600" y="3035808"/>
            <a:ext cx="1234440" cy="201168"/>
          </a:xfrm>
          <a:prstGeom prst="rect">
            <a:avLst/>
          </a:prstGeom>
          <a:noFill/>
          <a:ln/>
        </p:spPr>
        <p:txBody>
          <a:bodyPr wrap="square" lIns="0" tIns="0" rIns="0" bIns="0" rtlCol="0" anchor="t"/>
          <a:lstStyle/>
          <a:p>
            <a:pPr algn="l" indent="0" marL="0">
              <a:buNone/>
            </a:pPr>
            <a:r>
              <a:rPr lang="en-US" sz="950" dirty="0">
                <a:solidFill>
                  <a:srgbClr val="000000"/>
                </a:solidFill>
                <a:latin typeface="Calibri" pitchFamily="34" charset="0"/>
                <a:ea typeface="Calibri" pitchFamily="34" charset="-122"/>
                <a:cs typeface="Calibri" pitchFamily="34" charset="-120"/>
              </a:rPr>
              <a:t>Agent</a:t>
            </a:r>
            <a:endParaRPr lang="en-US" sz="950" dirty="0"/>
          </a:p>
        </p:txBody>
      </p:sp>
      <p:sp>
        <p:nvSpPr>
          <p:cNvPr id="14" name="Text 12"/>
          <p:cNvSpPr txBox="1"/>
          <p:nvPr/>
        </p:nvSpPr>
        <p:spPr>
          <a:xfrm>
            <a:off x="7086600" y="3401568"/>
            <a:ext cx="1234440" cy="329184"/>
          </a:xfrm>
          <a:prstGeom prst="rect">
            <a:avLst/>
          </a:prstGeom>
          <a:noFill/>
          <a:ln/>
        </p:spPr>
        <p:txBody>
          <a:bodyPr wrap="square" lIns="0" tIns="0" rIns="0" bIns="0" rtlCol="0" anchor="t"/>
          <a:lstStyle/>
          <a:p>
            <a:pPr algn="l" indent="0" marL="0">
              <a:buNone/>
            </a:pPr>
            <a:r>
              <a:rPr lang="en-US" sz="950" i="1" dirty="0">
                <a:solidFill>
                  <a:srgbClr val="595959"/>
                </a:solidFill>
                <a:latin typeface="Calibri" pitchFamily="34" charset="0"/>
                <a:ea typeface="Calibri" pitchFamily="34" charset="-122"/>
                <a:cs typeface="Calibri" pitchFamily="34" charset="-120"/>
              </a:rPr>
              <a:t>Crop Recommendation</a:t>
            </a:r>
            <a:endParaRPr lang="en-US" sz="950" dirty="0"/>
          </a:p>
        </p:txBody>
      </p:sp>
      <p:sp>
        <p:nvSpPr>
          <p:cNvPr id="15" name="Text 13"/>
          <p:cNvSpPr txBox="1"/>
          <p:nvPr/>
        </p:nvSpPr>
        <p:spPr>
          <a:xfrm>
            <a:off x="7086600" y="3557016"/>
            <a:ext cx="1188720" cy="146304"/>
          </a:xfrm>
          <a:prstGeom prst="rect">
            <a:avLst/>
          </a:prstGeom>
          <a:noFill/>
          <a:ln/>
        </p:spPr>
        <p:txBody>
          <a:bodyPr wrap="square" lIns="0" tIns="0" rIns="0" bIns="0" rtlCol="0" anchor="t"/>
          <a:lstStyle/>
          <a:p>
            <a:pPr algn="l" indent="0" marL="0">
              <a:buNone/>
            </a:pPr>
            <a:r>
              <a:rPr lang="en-US" sz="800" dirty="0">
                <a:solidFill>
                  <a:srgbClr val="595959"/>
                </a:solidFill>
                <a:latin typeface="Calibri" pitchFamily="34" charset="0"/>
                <a:ea typeface="Calibri" pitchFamily="34" charset="-122"/>
                <a:cs typeface="Calibri" pitchFamily="34" charset="-120"/>
              </a:rPr>
              <a:t>Coming soon</a:t>
            </a:r>
            <a:endParaRPr lang="en-US" sz="800" dirty="0"/>
          </a:p>
        </p:txBody>
      </p:sp>
      <p:sp>
        <p:nvSpPr>
          <p:cNvPr id="16" name="Text 14"/>
          <p:cNvSpPr txBox="1"/>
          <p:nvPr/>
        </p:nvSpPr>
        <p:spPr>
          <a:xfrm>
            <a:off x="7086600" y="3767328"/>
            <a:ext cx="1234440" cy="329184"/>
          </a:xfrm>
          <a:prstGeom prst="rect">
            <a:avLst/>
          </a:prstGeom>
          <a:noFill/>
          <a:ln/>
        </p:spPr>
        <p:txBody>
          <a:bodyPr wrap="square" lIns="0" tIns="0" rIns="0" bIns="0" rtlCol="0" anchor="t"/>
          <a:lstStyle/>
          <a:p>
            <a:pPr algn="l" indent="0" marL="0">
              <a:buNone/>
            </a:pPr>
            <a:r>
              <a:rPr lang="en-US" sz="950" i="1" dirty="0">
                <a:solidFill>
                  <a:srgbClr val="595959"/>
                </a:solidFill>
                <a:latin typeface="Calibri" pitchFamily="34" charset="0"/>
                <a:ea typeface="Calibri" pitchFamily="34" charset="-122"/>
                <a:cs typeface="Calibri" pitchFamily="34" charset="-120"/>
              </a:rPr>
              <a:t>Disease Detection</a:t>
            </a:r>
            <a:endParaRPr lang="en-US" sz="950" dirty="0"/>
          </a:p>
        </p:txBody>
      </p:sp>
      <p:sp>
        <p:nvSpPr>
          <p:cNvPr id="17" name="Text 15"/>
          <p:cNvSpPr txBox="1"/>
          <p:nvPr/>
        </p:nvSpPr>
        <p:spPr>
          <a:xfrm>
            <a:off x="7086600" y="3922776"/>
            <a:ext cx="1188720" cy="146304"/>
          </a:xfrm>
          <a:prstGeom prst="rect">
            <a:avLst/>
          </a:prstGeom>
          <a:noFill/>
          <a:ln/>
        </p:spPr>
        <p:txBody>
          <a:bodyPr wrap="square" lIns="0" tIns="0" rIns="0" bIns="0" rtlCol="0" anchor="t"/>
          <a:lstStyle/>
          <a:p>
            <a:pPr algn="l" indent="0" marL="0">
              <a:buNone/>
            </a:pPr>
            <a:r>
              <a:rPr lang="en-US" sz="800" dirty="0">
                <a:solidFill>
                  <a:srgbClr val="595959"/>
                </a:solidFill>
                <a:latin typeface="Calibri" pitchFamily="34" charset="0"/>
                <a:ea typeface="Calibri" pitchFamily="34" charset="-122"/>
                <a:cs typeface="Calibri" pitchFamily="34" charset="-120"/>
              </a:rPr>
              <a:t>Coming soon</a:t>
            </a:r>
            <a:endParaRPr lang="en-US" sz="800" dirty="0"/>
          </a:p>
        </p:txBody>
      </p:sp>
      <p:sp>
        <p:nvSpPr>
          <p:cNvPr id="18" name="Text 16"/>
          <p:cNvSpPr txBox="1"/>
          <p:nvPr/>
        </p:nvSpPr>
        <p:spPr>
          <a:xfrm>
            <a:off x="7086600" y="4133088"/>
            <a:ext cx="1234440" cy="329184"/>
          </a:xfrm>
          <a:prstGeom prst="rect">
            <a:avLst/>
          </a:prstGeom>
          <a:noFill/>
          <a:ln/>
        </p:spPr>
        <p:txBody>
          <a:bodyPr wrap="square" lIns="0" tIns="0" rIns="0" bIns="0" rtlCol="0" anchor="t"/>
          <a:lstStyle/>
          <a:p>
            <a:pPr algn="l" indent="0" marL="0">
              <a:buNone/>
            </a:pPr>
            <a:r>
              <a:rPr lang="en-US" sz="950" i="1" dirty="0">
                <a:solidFill>
                  <a:srgbClr val="595959"/>
                </a:solidFill>
                <a:latin typeface="Calibri" pitchFamily="34" charset="0"/>
                <a:ea typeface="Calibri" pitchFamily="34" charset="-122"/>
                <a:cs typeface="Calibri" pitchFamily="34" charset="-120"/>
              </a:rPr>
              <a:t>Yield Prediction</a:t>
            </a:r>
            <a:endParaRPr lang="en-US" sz="950" dirty="0"/>
          </a:p>
        </p:txBody>
      </p:sp>
      <p:sp>
        <p:nvSpPr>
          <p:cNvPr id="19" name="Text 17"/>
          <p:cNvSpPr txBox="1"/>
          <p:nvPr/>
        </p:nvSpPr>
        <p:spPr>
          <a:xfrm>
            <a:off x="7086600" y="4288536"/>
            <a:ext cx="1188720" cy="146304"/>
          </a:xfrm>
          <a:prstGeom prst="rect">
            <a:avLst/>
          </a:prstGeom>
          <a:noFill/>
          <a:ln/>
        </p:spPr>
        <p:txBody>
          <a:bodyPr wrap="square" lIns="0" tIns="0" rIns="0" bIns="0" rtlCol="0" anchor="t"/>
          <a:lstStyle/>
          <a:p>
            <a:pPr algn="l" indent="0" marL="0">
              <a:buNone/>
            </a:pPr>
            <a:r>
              <a:rPr lang="en-US" sz="800" dirty="0">
                <a:solidFill>
                  <a:srgbClr val="595959"/>
                </a:solidFill>
                <a:latin typeface="Calibri" pitchFamily="34" charset="0"/>
                <a:ea typeface="Calibri" pitchFamily="34" charset="-122"/>
                <a:cs typeface="Calibri" pitchFamily="34" charset="-120"/>
              </a:rPr>
              <a:t>Coming soon</a:t>
            </a:r>
            <a:endParaRPr lang="en-US" sz="800" dirty="0"/>
          </a:p>
        </p:txBody>
      </p:sp>
      <p:sp>
        <p:nvSpPr>
          <p:cNvPr id="20" name="Text 18"/>
          <p:cNvSpPr txBox="1"/>
          <p:nvPr/>
        </p:nvSpPr>
        <p:spPr>
          <a:xfrm>
            <a:off x="8503920" y="1463040"/>
            <a:ext cx="2971800" cy="228600"/>
          </a:xfrm>
          <a:prstGeom prst="rect">
            <a:avLst/>
          </a:prstGeom>
          <a:noFill/>
          <a:ln/>
        </p:spPr>
        <p:txBody>
          <a:bodyPr wrap="square" lIns="0" tIns="0" rIns="0" bIns="0" rtlCol="0" anchor="t"/>
          <a:lstStyle/>
          <a:p>
            <a:pPr algn="l" indent="0" marL="0">
              <a:buNone/>
            </a:pPr>
            <a:r>
              <a:rPr lang="en-US" sz="1100" b="1" dirty="0">
                <a:solidFill>
                  <a:srgbClr val="000000"/>
                </a:solidFill>
                <a:latin typeface="Calibri" pitchFamily="34" charset="0"/>
                <a:ea typeface="Calibri" pitchFamily="34" charset="-122"/>
                <a:cs typeface="Calibri" pitchFamily="34" charset="-120"/>
              </a:rPr>
              <a:t>Home: attention inbox</a:t>
            </a:r>
            <a:endParaRPr lang="en-US" sz="1100" dirty="0"/>
          </a:p>
        </p:txBody>
      </p:sp>
      <p:sp>
        <p:nvSpPr>
          <p:cNvPr id="21" name="Text 19"/>
          <p:cNvSpPr txBox="1"/>
          <p:nvPr/>
        </p:nvSpPr>
        <p:spPr>
          <a:xfrm>
            <a:off x="8503920" y="1755648"/>
            <a:ext cx="688086" cy="50292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900" dirty="0">
                <a:solidFill>
                  <a:srgbClr val="000000"/>
                </a:solidFill>
                <a:latin typeface="Calibri" pitchFamily="34" charset="0"/>
                <a:ea typeface="Calibri" pitchFamily="34" charset="-122"/>
                <a:cs typeface="Calibri" pitchFamily="34" charset="-120"/>
              </a:rPr>
              <a:t>Trees</a:t>
            </a:r>
            <a:endParaRPr lang="en-US" sz="900" dirty="0"/>
          </a:p>
          <a:p>
            <a:pPr algn="ctr" indent="0" marL="0">
              <a:buNone/>
            </a:pPr>
            <a:r>
              <a:rPr lang="en-US" sz="900" dirty="0">
                <a:solidFill>
                  <a:srgbClr val="000000"/>
                </a:solidFill>
                <a:latin typeface="Calibri" pitchFamily="34" charset="0"/>
                <a:ea typeface="Calibri" pitchFamily="34" charset="-122"/>
                <a:cs typeface="Calibri" pitchFamily="34" charset="-120"/>
              </a:rPr>
              <a:t>(live count)</a:t>
            </a:r>
            <a:endParaRPr lang="en-US" sz="900" dirty="0"/>
          </a:p>
        </p:txBody>
      </p:sp>
      <p:sp>
        <p:nvSpPr>
          <p:cNvPr id="22" name="Text 20"/>
          <p:cNvSpPr txBox="1"/>
          <p:nvPr/>
        </p:nvSpPr>
        <p:spPr>
          <a:xfrm>
            <a:off x="9246870" y="1755648"/>
            <a:ext cx="688086" cy="50292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900" dirty="0">
                <a:solidFill>
                  <a:srgbClr val="000000"/>
                </a:solidFill>
                <a:latin typeface="Calibri" pitchFamily="34" charset="0"/>
                <a:ea typeface="Calibri" pitchFamily="34" charset="-122"/>
                <a:cs typeface="Calibri" pitchFamily="34" charset="-120"/>
              </a:rPr>
              <a:t>Healthy</a:t>
            </a:r>
            <a:endParaRPr lang="en-US" sz="900" dirty="0"/>
          </a:p>
          <a:p>
            <a:pPr algn="ctr" indent="0" marL="0">
              <a:buNone/>
            </a:pPr>
            <a:r>
              <a:rPr lang="en-US" sz="900" dirty="0">
                <a:solidFill>
                  <a:srgbClr val="000000"/>
                </a:solidFill>
                <a:latin typeface="Calibri" pitchFamily="34" charset="0"/>
                <a:ea typeface="Calibri" pitchFamily="34" charset="-122"/>
                <a:cs typeface="Calibri" pitchFamily="34" charset="-120"/>
              </a:rPr>
              <a:t>(live count)</a:t>
            </a:r>
            <a:endParaRPr lang="en-US" sz="900" dirty="0"/>
          </a:p>
        </p:txBody>
      </p:sp>
      <p:sp>
        <p:nvSpPr>
          <p:cNvPr id="23" name="Text 21"/>
          <p:cNvSpPr txBox="1"/>
          <p:nvPr/>
        </p:nvSpPr>
        <p:spPr>
          <a:xfrm>
            <a:off x="9989820" y="1755648"/>
            <a:ext cx="688086" cy="50292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900" dirty="0">
                <a:solidFill>
                  <a:srgbClr val="000000"/>
                </a:solidFill>
                <a:latin typeface="Calibri" pitchFamily="34" charset="0"/>
                <a:ea typeface="Calibri" pitchFamily="34" charset="-122"/>
                <a:cs typeface="Calibri" pitchFamily="34" charset="-120"/>
              </a:rPr>
              <a:t>At risk</a:t>
            </a:r>
            <a:endParaRPr lang="en-US" sz="900" dirty="0"/>
          </a:p>
          <a:p>
            <a:pPr algn="ctr" indent="0" marL="0">
              <a:buNone/>
            </a:pPr>
            <a:r>
              <a:rPr lang="en-US" sz="900" dirty="0">
                <a:solidFill>
                  <a:srgbClr val="000000"/>
                </a:solidFill>
                <a:latin typeface="Calibri" pitchFamily="34" charset="0"/>
                <a:ea typeface="Calibri" pitchFamily="34" charset="-122"/>
                <a:cs typeface="Calibri" pitchFamily="34" charset="-120"/>
              </a:rPr>
              <a:t>(live count)</a:t>
            </a:r>
            <a:endParaRPr lang="en-US" sz="900" dirty="0"/>
          </a:p>
        </p:txBody>
      </p:sp>
      <p:sp>
        <p:nvSpPr>
          <p:cNvPr id="24" name="Text 22"/>
          <p:cNvSpPr txBox="1"/>
          <p:nvPr/>
        </p:nvSpPr>
        <p:spPr>
          <a:xfrm>
            <a:off x="10732770" y="1755648"/>
            <a:ext cx="688086" cy="502920"/>
          </a:xfrm>
          <a:prstGeom prst="rect">
            <a:avLst/>
          </a:prstGeom>
          <a:solidFill>
            <a:srgbClr val="FFFFFF"/>
          </a:solidFill>
          <a:ln w="12700">
            <a:solidFill>
              <a:srgbClr val="000000"/>
            </a:solidFill>
            <a:prstDash val="solid"/>
          </a:ln>
        </p:spPr>
        <p:txBody>
          <a:bodyPr wrap="square" lIns="50800" tIns="50800" rIns="50800" bIns="50800" rtlCol="0" anchor="ctr"/>
          <a:lstStyle/>
          <a:p>
            <a:pPr algn="ctr" indent="0" marL="0">
              <a:buNone/>
            </a:pPr>
            <a:r>
              <a:rPr lang="en-US" sz="900" dirty="0">
                <a:solidFill>
                  <a:srgbClr val="000000"/>
                </a:solidFill>
                <a:latin typeface="Calibri" pitchFamily="34" charset="0"/>
                <a:ea typeface="Calibri" pitchFamily="34" charset="-122"/>
                <a:cs typeface="Calibri" pitchFamily="34" charset="-120"/>
              </a:rPr>
              <a:t>Critical</a:t>
            </a:r>
            <a:endParaRPr lang="en-US" sz="900" dirty="0"/>
          </a:p>
          <a:p>
            <a:pPr algn="ctr" indent="0" marL="0">
              <a:buNone/>
            </a:pPr>
            <a:r>
              <a:rPr lang="en-US" sz="900" dirty="0">
                <a:solidFill>
                  <a:srgbClr val="000000"/>
                </a:solidFill>
                <a:latin typeface="Calibri" pitchFamily="34" charset="0"/>
                <a:ea typeface="Calibri" pitchFamily="34" charset="-122"/>
                <a:cs typeface="Calibri" pitchFamily="34" charset="-120"/>
              </a:rPr>
              <a:t>(live count)</a:t>
            </a:r>
            <a:endParaRPr lang="en-US" sz="900" dirty="0"/>
          </a:p>
        </p:txBody>
      </p:sp>
      <p:sp>
        <p:nvSpPr>
          <p:cNvPr id="25" name="Text 23"/>
          <p:cNvSpPr txBox="1"/>
          <p:nvPr/>
        </p:nvSpPr>
        <p:spPr>
          <a:xfrm>
            <a:off x="8503920" y="2350008"/>
            <a:ext cx="1449324" cy="45720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900" dirty="0">
                <a:solidFill>
                  <a:srgbClr val="000000"/>
                </a:solidFill>
                <a:latin typeface="Calibri" pitchFamily="34" charset="0"/>
                <a:ea typeface="Calibri" pitchFamily="34" charset="-122"/>
                <a:cs typeface="Calibri" pitchFamily="34" charset="-120"/>
              </a:rPr>
              <a:t>Canopy: not enough data</a:t>
            </a:r>
            <a:endParaRPr lang="en-US" sz="900" dirty="0"/>
          </a:p>
        </p:txBody>
      </p:sp>
      <p:sp>
        <p:nvSpPr>
          <p:cNvPr id="26" name="Text 24"/>
          <p:cNvSpPr txBox="1"/>
          <p:nvPr/>
        </p:nvSpPr>
        <p:spPr>
          <a:xfrm>
            <a:off x="10008108" y="2350008"/>
            <a:ext cx="1449324" cy="45720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900" dirty="0">
                <a:solidFill>
                  <a:srgbClr val="000000"/>
                </a:solidFill>
                <a:latin typeface="Calibri" pitchFamily="34" charset="0"/>
                <a:ea typeface="Calibri" pitchFamily="34" charset="-122"/>
                <a:cs typeface="Calibri" pitchFamily="34" charset="-120"/>
              </a:rPr>
              <a:t>Survival forecast: Coming soon</a:t>
            </a:r>
            <a:endParaRPr lang="en-US" sz="900" dirty="0"/>
          </a:p>
        </p:txBody>
      </p:sp>
      <p:sp>
        <p:nvSpPr>
          <p:cNvPr id="27" name="Text 25"/>
          <p:cNvSpPr txBox="1"/>
          <p:nvPr/>
        </p:nvSpPr>
        <p:spPr>
          <a:xfrm>
            <a:off x="8503920" y="2944368"/>
            <a:ext cx="2971800" cy="566928"/>
          </a:xfrm>
          <a:prstGeom prst="rect">
            <a:avLst/>
          </a:prstGeom>
          <a:solidFill>
            <a:srgbClr val="FFFFFF"/>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28" name="Text 26"/>
          <p:cNvSpPr txBox="1"/>
          <p:nvPr/>
        </p:nvSpPr>
        <p:spPr>
          <a:xfrm>
            <a:off x="8577072" y="2990088"/>
            <a:ext cx="2825496" cy="219456"/>
          </a:xfrm>
          <a:prstGeom prst="rect">
            <a:avLst/>
          </a:prstGeom>
          <a:noFill/>
          <a:ln/>
        </p:spPr>
        <p:txBody>
          <a:bodyPr wrap="square" lIns="0" tIns="0" rIns="0" bIns="0" rtlCol="0" anchor="t"/>
          <a:lstStyle/>
          <a:p>
            <a:pPr algn="l" indent="0" marL="0">
              <a:buNone/>
            </a:pPr>
            <a:r>
              <a:rPr lang="en-US" sz="1000" b="1" dirty="0">
                <a:solidFill>
                  <a:srgbClr val="000000"/>
                </a:solidFill>
                <a:latin typeface="Calibri" pitchFamily="34" charset="0"/>
                <a:ea typeface="Calibri" pitchFamily="34" charset="-122"/>
                <a:cs typeface="Calibri" pitchFamily="34" charset="-120"/>
              </a:rPr>
              <a:t>Tree #482 not observed in 23 days</a:t>
            </a:r>
            <a:endParaRPr lang="en-US" sz="1000" dirty="0"/>
          </a:p>
        </p:txBody>
      </p:sp>
      <p:sp>
        <p:nvSpPr>
          <p:cNvPr id="29" name="Text 27"/>
          <p:cNvSpPr txBox="1"/>
          <p:nvPr/>
        </p:nvSpPr>
        <p:spPr>
          <a:xfrm>
            <a:off x="8577072" y="3246120"/>
            <a:ext cx="914400" cy="182880"/>
          </a:xfrm>
          <a:prstGeom prst="rect">
            <a:avLst/>
          </a:prstGeom>
          <a:noFill/>
          <a:ln/>
        </p:spPr>
        <p:txBody>
          <a:bodyPr wrap="square" lIns="0" tIns="0" rIns="0" bIns="0" rtlCol="0" anchor="t"/>
          <a:lstStyle/>
          <a:p>
            <a:pPr algn="l" indent="0" marL="0">
              <a:buNone/>
            </a:pPr>
            <a:r>
              <a:rPr lang="en-US" sz="900" dirty="0">
                <a:solidFill>
                  <a:srgbClr val="595959"/>
                </a:solidFill>
                <a:latin typeface="Calibri" pitchFamily="34" charset="0"/>
                <a:ea typeface="Calibri" pitchFamily="34" charset="-122"/>
                <a:cs typeface="Calibri" pitchFamily="34" charset="-120"/>
              </a:rPr>
              <a:t>Rule · why?</a:t>
            </a:r>
            <a:endParaRPr lang="en-US" sz="900" dirty="0"/>
          </a:p>
        </p:txBody>
      </p:sp>
      <p:sp>
        <p:nvSpPr>
          <p:cNvPr id="30" name="Text 28"/>
          <p:cNvSpPr txBox="1"/>
          <p:nvPr/>
        </p:nvSpPr>
        <p:spPr>
          <a:xfrm>
            <a:off x="10515600" y="3227832"/>
            <a:ext cx="868680"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Create task</a:t>
            </a:r>
            <a:endParaRPr lang="en-US" sz="900" dirty="0"/>
          </a:p>
        </p:txBody>
      </p:sp>
      <p:sp>
        <p:nvSpPr>
          <p:cNvPr id="31" name="Text 29"/>
          <p:cNvSpPr txBox="1"/>
          <p:nvPr/>
        </p:nvSpPr>
        <p:spPr>
          <a:xfrm>
            <a:off x="8503920" y="3584448"/>
            <a:ext cx="2971800" cy="566928"/>
          </a:xfrm>
          <a:prstGeom prst="rect">
            <a:avLst/>
          </a:prstGeom>
          <a:solidFill>
            <a:srgbClr val="FFFFFF"/>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2" name="Text 30"/>
          <p:cNvSpPr txBox="1"/>
          <p:nvPr/>
        </p:nvSpPr>
        <p:spPr>
          <a:xfrm>
            <a:off x="8577072" y="3630168"/>
            <a:ext cx="2825496" cy="219456"/>
          </a:xfrm>
          <a:prstGeom prst="rect">
            <a:avLst/>
          </a:prstGeom>
          <a:noFill/>
          <a:ln/>
        </p:spPr>
        <p:txBody>
          <a:bodyPr wrap="square" lIns="0" tIns="0" rIns="0" bIns="0" rtlCol="0" anchor="t"/>
          <a:lstStyle/>
          <a:p>
            <a:pPr algn="l" indent="0" marL="0">
              <a:buNone/>
            </a:pPr>
            <a:r>
              <a:rPr lang="en-US" sz="1000" b="1" dirty="0">
                <a:solidFill>
                  <a:srgbClr val="000000"/>
                </a:solidFill>
                <a:latin typeface="Calibri" pitchFamily="34" charset="0"/>
                <a:ea typeface="Calibri" pitchFamily="34" charset="-122"/>
                <a:cs typeface="Calibri" pitchFamily="34" charset="-120"/>
              </a:rPr>
              <a:t>6 plants in Zone B show leaf_spot</a:t>
            </a:r>
            <a:endParaRPr lang="en-US" sz="1000" dirty="0"/>
          </a:p>
        </p:txBody>
      </p:sp>
      <p:sp>
        <p:nvSpPr>
          <p:cNvPr id="33" name="Text 31"/>
          <p:cNvSpPr txBox="1"/>
          <p:nvPr/>
        </p:nvSpPr>
        <p:spPr>
          <a:xfrm>
            <a:off x="8577072" y="3886200"/>
            <a:ext cx="914400" cy="182880"/>
          </a:xfrm>
          <a:prstGeom prst="rect">
            <a:avLst/>
          </a:prstGeom>
          <a:noFill/>
          <a:ln/>
        </p:spPr>
        <p:txBody>
          <a:bodyPr wrap="square" lIns="0" tIns="0" rIns="0" bIns="0" rtlCol="0" anchor="t"/>
          <a:lstStyle/>
          <a:p>
            <a:pPr algn="l" indent="0" marL="0">
              <a:buNone/>
            </a:pPr>
            <a:r>
              <a:rPr lang="en-US" sz="900" dirty="0">
                <a:solidFill>
                  <a:srgbClr val="595959"/>
                </a:solidFill>
                <a:latin typeface="Calibri" pitchFamily="34" charset="0"/>
                <a:ea typeface="Calibri" pitchFamily="34" charset="-122"/>
                <a:cs typeface="Calibri" pitchFamily="34" charset="-120"/>
              </a:rPr>
              <a:t>Rule · why?</a:t>
            </a:r>
            <a:endParaRPr lang="en-US" sz="900" dirty="0"/>
          </a:p>
        </p:txBody>
      </p:sp>
      <p:sp>
        <p:nvSpPr>
          <p:cNvPr id="34" name="Text 32"/>
          <p:cNvSpPr txBox="1"/>
          <p:nvPr/>
        </p:nvSpPr>
        <p:spPr>
          <a:xfrm>
            <a:off x="10515600" y="3867912"/>
            <a:ext cx="868680"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Create issue</a:t>
            </a:r>
            <a:endParaRPr lang="en-US" sz="900" dirty="0"/>
          </a:p>
        </p:txBody>
      </p:sp>
      <p:sp>
        <p:nvSpPr>
          <p:cNvPr id="35" name="Text 33"/>
          <p:cNvSpPr txBox="1"/>
          <p:nvPr/>
        </p:nvSpPr>
        <p:spPr>
          <a:xfrm>
            <a:off x="8503920" y="4224528"/>
            <a:ext cx="2971800" cy="566928"/>
          </a:xfrm>
          <a:prstGeom prst="rect">
            <a:avLst/>
          </a:prstGeom>
          <a:solidFill>
            <a:srgbClr val="FFFFFF"/>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36" name="Text 34"/>
          <p:cNvSpPr txBox="1"/>
          <p:nvPr/>
        </p:nvSpPr>
        <p:spPr>
          <a:xfrm>
            <a:off x="8577072" y="4270248"/>
            <a:ext cx="2825496" cy="219456"/>
          </a:xfrm>
          <a:prstGeom prst="rect">
            <a:avLst/>
          </a:prstGeom>
          <a:noFill/>
          <a:ln/>
        </p:spPr>
        <p:txBody>
          <a:bodyPr wrap="square" lIns="0" tIns="0" rIns="0" bIns="0" rtlCol="0" anchor="t"/>
          <a:lstStyle/>
          <a:p>
            <a:pPr algn="l" indent="0" marL="0">
              <a:buNone/>
            </a:pPr>
            <a:r>
              <a:rPr lang="en-US" sz="1000" b="1" dirty="0">
                <a:solidFill>
                  <a:srgbClr val="000000"/>
                </a:solidFill>
                <a:latin typeface="Calibri" pitchFamily="34" charset="0"/>
                <a:ea typeface="Calibri" pitchFamily="34" charset="-122"/>
                <a:cs typeface="Calibri" pitchFamily="34" charset="-120"/>
              </a:rPr>
              <a:t>Neem #101 health fell 24 pts</a:t>
            </a:r>
            <a:endParaRPr lang="en-US" sz="1000" dirty="0"/>
          </a:p>
        </p:txBody>
      </p:sp>
      <p:sp>
        <p:nvSpPr>
          <p:cNvPr id="37" name="Text 35"/>
          <p:cNvSpPr txBox="1"/>
          <p:nvPr/>
        </p:nvSpPr>
        <p:spPr>
          <a:xfrm>
            <a:off x="8577072" y="4526280"/>
            <a:ext cx="914400" cy="182880"/>
          </a:xfrm>
          <a:prstGeom prst="rect">
            <a:avLst/>
          </a:prstGeom>
          <a:noFill/>
          <a:ln/>
        </p:spPr>
        <p:txBody>
          <a:bodyPr wrap="square" lIns="0" tIns="0" rIns="0" bIns="0" rtlCol="0" anchor="t"/>
          <a:lstStyle/>
          <a:p>
            <a:pPr algn="l" indent="0" marL="0">
              <a:buNone/>
            </a:pPr>
            <a:r>
              <a:rPr lang="en-US" sz="900" dirty="0">
                <a:solidFill>
                  <a:srgbClr val="595959"/>
                </a:solidFill>
                <a:latin typeface="Calibri" pitchFamily="34" charset="0"/>
                <a:ea typeface="Calibri" pitchFamily="34" charset="-122"/>
                <a:cs typeface="Calibri" pitchFamily="34" charset="-120"/>
              </a:rPr>
              <a:t>Rule · why?</a:t>
            </a:r>
            <a:endParaRPr lang="en-US" sz="900" dirty="0"/>
          </a:p>
        </p:txBody>
      </p:sp>
      <p:sp>
        <p:nvSpPr>
          <p:cNvPr id="38" name="Text 36"/>
          <p:cNvSpPr txBox="1"/>
          <p:nvPr/>
        </p:nvSpPr>
        <p:spPr>
          <a:xfrm>
            <a:off x="10515600" y="4507992"/>
            <a:ext cx="868680" cy="219456"/>
          </a:xfrm>
          <a:prstGeom prst="rect">
            <a:avLst/>
          </a:prstGeom>
          <a:solidFill>
            <a:srgbClr val="000000"/>
          </a:solidFill>
          <a:ln w="12700">
            <a:solidFill>
              <a:srgbClr val="000000"/>
            </a:solidFill>
            <a:prstDash val="solid"/>
          </a:ln>
        </p:spPr>
        <p:txBody>
          <a:bodyPr wrap="square" lIns="50800" tIns="50800" rIns="50800" bIns="5080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Create issue</a:t>
            </a:r>
            <a:endParaRPr lang="en-US" sz="900" dirty="0"/>
          </a:p>
        </p:txBody>
      </p:sp>
      <p:sp>
        <p:nvSpPr>
          <p:cNvPr id="39" name="Text 37"/>
          <p:cNvSpPr txBox="1"/>
          <p:nvPr/>
        </p:nvSpPr>
        <p:spPr>
          <a:xfrm>
            <a:off x="6995160" y="5175504"/>
            <a:ext cx="4617720" cy="365760"/>
          </a:xfrm>
          <a:prstGeom prst="rect">
            <a:avLst/>
          </a:prstGeom>
          <a:noFill/>
          <a:ln/>
        </p:spPr>
        <p:txBody>
          <a:bodyPr wrap="square" lIns="0" tIns="0" rIns="0" bIns="0" rtlCol="0" anchor="t"/>
          <a:lstStyle/>
          <a:p>
            <a:pPr algn="l" indent="0" marL="0">
              <a:buNone/>
            </a:pPr>
            <a:r>
              <a:rPr lang="en-US" sz="1050" i="1" dirty="0">
                <a:solidFill>
                  <a:srgbClr val="595959"/>
                </a:solidFill>
                <a:latin typeface="Calibri" pitchFamily="34" charset="0"/>
                <a:ea typeface="Calibri" pitchFamily="34" charset="-122"/>
                <a:cs typeface="Calibri" pitchFamily="34" charset="-120"/>
              </a:rPr>
              <a:t>Wireframe values are illustrative. Planned modules show 'Coming soon' with no fabricated output.</a:t>
            </a:r>
            <a:endParaRPr lang="en-US" sz="1050" dirty="0"/>
          </a:p>
        </p:txBody>
      </p:sp>
      <p:sp>
        <p:nvSpPr>
          <p:cNvPr id="40" name="Text 38"/>
          <p:cNvSpPr txBox="1"/>
          <p:nvPr/>
        </p:nvSpPr>
        <p:spPr>
          <a:xfrm>
            <a:off x="594360" y="5669280"/>
            <a:ext cx="11018520" cy="777240"/>
          </a:xfrm>
          <a:prstGeom prst="rect">
            <a:avLst/>
          </a:prstGeom>
          <a:solidFill>
            <a:srgbClr val="F2F2F2"/>
          </a:solidFill>
          <a:ln w="9525">
            <a:solidFill>
              <a:srgbClr val="A6A6A6"/>
            </a:solidFill>
            <a:prstDash val="solid"/>
          </a:ln>
        </p:spPr>
        <p:txBody>
          <a:bodyPr wrap="square" lIns="50800" tIns="50800" rIns="50800" bIns="50800" rtlCol="0" anchor="ctr"/>
          <a:lstStyle/>
          <a:p>
            <a:pPr algn="ctr" indent="0" marL="0">
              <a:buNone/>
            </a:pPr>
            <a:endParaRPr lang="en-US" sz="1100" dirty="0"/>
          </a:p>
        </p:txBody>
      </p:sp>
      <p:sp>
        <p:nvSpPr>
          <p:cNvPr id="41" name="Text 39"/>
          <p:cNvSpPr txBox="1"/>
          <p:nvPr/>
        </p:nvSpPr>
        <p:spPr>
          <a:xfrm>
            <a:off x="731520" y="5733288"/>
            <a:ext cx="10744200" cy="640080"/>
          </a:xfrm>
          <a:prstGeom prst="rect">
            <a:avLst/>
          </a:prstGeom>
          <a:noFill/>
          <a:ln/>
        </p:spPr>
        <p:txBody>
          <a:bodyPr wrap="square" lIns="0" tIns="0" rIns="0" bIns="0" rtlCol="0" anchor="t"/>
          <a:lstStyle/>
          <a:p>
            <a:pPr algn="l" indent="0" marL="0">
              <a:buNone/>
            </a:pPr>
            <a:r>
              <a:rPr lang="en-US" sz="1200" b="1" dirty="0">
                <a:solidFill>
                  <a:srgbClr val="202124"/>
                </a:solidFill>
                <a:latin typeface="Calibri" pitchFamily="34" charset="0"/>
                <a:ea typeface="Calibri" pitchFamily="34" charset="-122"/>
                <a:cs typeface="Calibri" pitchFamily="34" charset="-120"/>
              </a:rPr>
              <a:t>Done: </a:t>
            </a:r>
            <a:pPr algn="l" indent="0" marL="0">
              <a:buNone/>
            </a:pPr>
            <a:r>
              <a:rPr lang="en-US" sz="1200" dirty="0">
                <a:solidFill>
                  <a:srgbClr val="202124"/>
                </a:solidFill>
                <a:latin typeface="Calibri" pitchFamily="34" charset="0"/>
                <a:ea typeface="Calibri" pitchFamily="34" charset="-122"/>
                <a:cs typeface="Calibri" pitchFamily="34" charset="-120"/>
              </a:rPr>
              <a:t>PRD and documentation set, architecture, database schema, API specification, rules-engine proof of concept with tests.</a:t>
            </a:r>
            <a:endParaRPr lang="en-US" sz="1200" dirty="0"/>
          </a:p>
          <a:p>
            <a:pPr algn="l" indent="0" marL="0">
              <a:buNone/>
            </a:pPr>
            <a:r>
              <a:rPr lang="en-US" sz="1200" b="1" dirty="0">
                <a:solidFill>
                  <a:srgbClr val="202124"/>
                </a:solidFill>
                <a:latin typeface="Calibri" pitchFamily="34" charset="0"/>
                <a:ea typeface="Calibri" pitchFamily="34" charset="-122"/>
                <a:cs typeface="Calibri" pitchFamily="34" charset="-120"/>
              </a:rPr>
              <a:t>Next: </a:t>
            </a:r>
            <a:pPr algn="l" indent="0" marL="0">
              <a:buNone/>
            </a:pPr>
            <a:r>
              <a:rPr lang="en-US" sz="1200" dirty="0">
                <a:solidFill>
                  <a:srgbClr val="202124"/>
                </a:solidFill>
                <a:latin typeface="Calibri" pitchFamily="34" charset="0"/>
                <a:ea typeface="Calibri" pitchFamily="34" charset="-122"/>
                <a:cs typeface="Calibri" pitchFamily="34" charset="-120"/>
              </a:rPr>
              <a:t>scaffold FastAPI and React, PostGIS database, authentication and workspace isolation, then assets and observations.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566928"/>
          </a:xfrm>
          <a:prstGeom prst="rect">
            <a:avLst/>
          </a:prstGeom>
          <a:noFill/>
          <a:ln/>
        </p:spPr>
        <p:txBody>
          <a:bodyPr wrap="square" lIns="0" tIns="0" rIns="0" bIns="0" rtlCol="0" anchor="t"/>
          <a:lstStyle/>
          <a:p>
            <a:pPr algn="l" indent="0" marL="0">
              <a:buNone/>
            </a:pPr>
            <a:r>
              <a:rPr lang="en-US" sz="2800" b="1" dirty="0">
                <a:solidFill>
                  <a:srgbClr val="000000"/>
                </a:solidFill>
                <a:latin typeface="Bookman Old Style" pitchFamily="34" charset="0"/>
                <a:ea typeface="Bookman Old Style" pitchFamily="34" charset="-122"/>
                <a:cs typeface="Bookman Old Style" pitchFamily="34" charset="-120"/>
              </a:rPr>
              <a:t>Industry Approval Letter (On Company letterhead)</a:t>
            </a:r>
            <a:endParaRPr lang="en-US" sz="2800" dirty="0"/>
          </a:p>
        </p:txBody>
      </p:sp>
      <p:sp>
        <p:nvSpPr>
          <p:cNvPr id="3" name="Text 1"/>
          <p:cNvSpPr txBox="1"/>
          <p:nvPr/>
        </p:nvSpPr>
        <p:spPr>
          <a:xfrm>
            <a:off x="1097280" y="1371600"/>
            <a:ext cx="9966960" cy="4754880"/>
          </a:xfrm>
          <a:prstGeom prst="rect">
            <a:avLst/>
          </a:prstGeom>
          <a:solidFill>
            <a:srgbClr val="FFFFFF"/>
          </a:solidFill>
          <a:ln w="12700">
            <a:solidFill>
              <a:srgbClr val="595959"/>
            </a:solidFill>
            <a:prstDash val="dash"/>
          </a:ln>
        </p:spPr>
        <p:txBody>
          <a:bodyPr wrap="square" lIns="50800" tIns="50800" rIns="50800" bIns="50800" rtlCol="0" anchor="ctr"/>
          <a:lstStyle/>
          <a:p>
            <a:pPr algn="ctr" indent="0" marL="0">
              <a:buNone/>
            </a:pPr>
            <a:r>
              <a:rPr lang="en-US" sz="1800" i="1" dirty="0">
                <a:solidFill>
                  <a:srgbClr val="595959"/>
                </a:solidFill>
                <a:latin typeface="Times New Roman" pitchFamily="34" charset="0"/>
                <a:ea typeface="Times New Roman" pitchFamily="34" charset="-122"/>
                <a:cs typeface="Times New Roman" pitchFamily="34" charset="-120"/>
              </a:rPr>
              <a:t>Insert the signed industry approval letter here (scan or photo on company letterhead)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GreenGuardian - Stage 2 Review</dc:title>
  <dc:subject>PptxGenJS Presentation</dc:subject>
  <dc:creator>GreenGuardian team</dc:creator>
  <cp:lastModifiedBy>GreenGuardian team</cp:lastModifiedBy>
  <cp:revision>1</cp:revision>
  <dcterms:created xsi:type="dcterms:W3CDTF">2026-10-06T18:16:42Z</dcterms:created>
  <dcterms:modified xsi:type="dcterms:W3CDTF">2026-10-06T18:16:42Z</dcterms:modified>
</cp:coreProperties>
</file>